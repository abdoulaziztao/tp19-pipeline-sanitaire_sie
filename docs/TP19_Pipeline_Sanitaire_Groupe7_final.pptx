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1" r:id="rId12"/>
    <p:sldId id="266" r:id="rId13"/>
    <p:sldId id="267" r:id="rId14"/>
    <p:sldId id="268" r:id="rId15"/>
    <p:sldId id="269"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FA69E2D-1A36-6E87-9054-DCE360865CDF}">
          <p14:sldIdLst>
            <p14:sldId id="256"/>
            <p14:sldId id="257"/>
            <p14:sldId id="258"/>
            <p14:sldId id="259"/>
          </p14:sldIdLst>
        </p14:section>
        <p14:section name="Réalisation" id="{FD2DF6FB-9223-B9DC-4063-D91BECEE31B8}">
          <p14:sldIdLst>
            <p14:sldId id="260"/>
            <p14:sldId id="261"/>
            <p14:sldId id="262"/>
            <p14:sldId id="263"/>
            <p14:sldId id="264"/>
            <p14:sldId id="265"/>
            <p14:sldId id="271"/>
          </p14:sldIdLst>
        </p14:section>
        <p14:section name="Tests" id="{D323CB04-F9BA-C006-D117-7553E0E3931D}">
          <p14:sldIdLst>
            <p14:sldId id="266"/>
            <p14:sldId id="267"/>
          </p14:sldIdLst>
        </p14:section>
        <p14:section name="Conclusion" id="{5CC2AD51-502F-5328-CE66-01C6F475F6BB}">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4512" autoAdjust="0"/>
  </p:normalViewPr>
  <p:slideViewPr>
    <p:cSldViewPr snapToGrid="0" snapToObjects="1">
      <p:cViewPr varScale="1">
        <p:scale>
          <a:sx n="84" d="100"/>
          <a:sy n="84" d="100"/>
        </p:scale>
        <p:origin x="142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860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Présentez-vous en une phrase : Groupe 7, filière SIE, sujet 19. Le projet construit une chaîne complète : on fabrique des données de santé fictives, on les copie avec Airbyte, on les contrôle avec Dagster, on les range dans PostgreSQL et on les expose avec FastAPI. Annoncez le plan : architecture, réalisation étape par étape, deux tests de bout en bout, bilan. Durée visée : environ 20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sujet demande trois grandes choses. Collecter : générer des données fictives (structures, consultations, prestations) et les répliquer avec Airbyte. Contrôler : vérifier la complétude, l’unicité, la cohérence des dates et la validité des identifiants avec Dagster, et garder une trace de ce qui est refusé. Exposer : calculer des indicateurs par période et par structure avec FastAPI. Insistez sur le mot fictives : aucune donnée réelle de patient n’est utilisée.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Lisez le schéma de gauche à droite. Les CSV générés sont chargés dans la base source PostgreSQL (port 5433). Airbyte copie les trois tables telles quelles vers l’entrepôt, dans le schéma raw (port 5434). Dagster lit raw, applique les contrôles, envoie les lignes valides vers dwh et les lignes refusées vers audit. FastAPI lit dwh et audit pour répondre. C’est une logique ELT : on copie d’abord, on contrôle ensuite.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Chaque membre porte un maillon de la chaîne, ce qui évite les conflits de fichiers dans Git. Adjaratou : données et base. Abdoul Aziz : Airbyte. Adama : Dagster. Carine : API FastAPI. Audrey : DevOps, tests de bout en bout, README et rapport. Précisez que tout le monde a testé la chaîne complète.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script Python avec la bibliothèque Faker génère trois fichiers CSV : 20 structures sanitaires, 2 000 consultations sur douze mois, et une à trois prestations par consultation avec des montants en francs CFA (4 031 prestations au total). Les identifiants ont un format précis (STR-0000, CSL-000000, PRS-000000), ce qui permet ensuite de contrôler leur validité. La capture montre les trois tables de la base source et leurs comptages : 20, 2 000 et 4 031.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Airbyte est installé à part avec l’outil abctl, car depuis la version 1.0 il ne se lance plus par Docker Compose. On crée une source PostgreSQL (base sourcedb, port 5433), une destination PostgreSQL (base warehouse, schéma raw, port 5434) et une connexion. Les trois tables sont en mode Full refresh avec Overwrite : on recopie tout fidèlement, y compris les erreurs, pour que Dagster puisse les détecter. Première capture : la connexion avant la synchronisation (flux en attente). Seconde capture : synchronisation réussie, 2 000 consultations, 4 031 prestations et 20 structures chargées.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Dagster décrit le pipeline sous forme de sept assets reliés : trois assets bruts, trois assets validés et un asset de chargement de l’entrepôt. La capture les montre tous en succès. Quatre contrôles sont demandés : complétude (aucun champ obligatoire vide), unicité (pas de doublon d’identifiant), cohérence des dates (ni dans le futur, ni avant 2000, une prestation ne précède pas sa consultation) et validité des identifiants (format STR, CSL, PRS). Nous avons ajouté un contrôle de référence : une consultation doit pointer vers une structure valide.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Après les </a:t>
            </a:r>
            <a:r>
              <a:rPr dirty="0" err="1"/>
              <a:t>contrôles</a:t>
            </a:r>
            <a:r>
              <a:rPr dirty="0"/>
              <a:t>, les </a:t>
            </a:r>
            <a:r>
              <a:rPr dirty="0" err="1"/>
              <a:t>lignes</a:t>
            </a:r>
            <a:r>
              <a:rPr dirty="0"/>
              <a:t> </a:t>
            </a:r>
            <a:r>
              <a:rPr dirty="0" err="1"/>
              <a:t>valides</a:t>
            </a:r>
            <a:r>
              <a:rPr dirty="0"/>
              <a:t> </a:t>
            </a:r>
            <a:r>
              <a:rPr dirty="0" err="1"/>
              <a:t>sont</a:t>
            </a:r>
            <a:r>
              <a:rPr dirty="0"/>
              <a:t> </a:t>
            </a:r>
            <a:r>
              <a:rPr dirty="0" err="1"/>
              <a:t>chargées</a:t>
            </a:r>
            <a:r>
              <a:rPr dirty="0"/>
              <a:t> dans le </a:t>
            </a:r>
            <a:r>
              <a:rPr dirty="0" err="1"/>
              <a:t>schéma</a:t>
            </a:r>
            <a:r>
              <a:rPr dirty="0"/>
              <a:t> </a:t>
            </a:r>
            <a:r>
              <a:rPr dirty="0" err="1"/>
              <a:t>dwh</a:t>
            </a:r>
            <a:r>
              <a:rPr dirty="0"/>
              <a:t> </a:t>
            </a:r>
            <a:r>
              <a:rPr dirty="0" err="1"/>
              <a:t>en</a:t>
            </a:r>
            <a:r>
              <a:rPr dirty="0"/>
              <a:t> </a:t>
            </a:r>
            <a:r>
              <a:rPr dirty="0" err="1"/>
              <a:t>une</a:t>
            </a:r>
            <a:r>
              <a:rPr dirty="0"/>
              <a:t> </a:t>
            </a:r>
            <a:r>
              <a:rPr dirty="0" err="1"/>
              <a:t>seule</a:t>
            </a:r>
            <a:r>
              <a:rPr dirty="0"/>
              <a:t> transaction : </a:t>
            </a:r>
            <a:r>
              <a:rPr dirty="0" err="1"/>
              <a:t>si</a:t>
            </a:r>
            <a:r>
              <a:rPr dirty="0"/>
              <a:t> </a:t>
            </a:r>
            <a:r>
              <a:rPr dirty="0" err="1"/>
              <a:t>une</a:t>
            </a:r>
            <a:r>
              <a:rPr dirty="0"/>
              <a:t> </a:t>
            </a:r>
            <a:r>
              <a:rPr dirty="0" err="1"/>
              <a:t>erreur</a:t>
            </a:r>
            <a:r>
              <a:rPr dirty="0"/>
              <a:t> </a:t>
            </a:r>
            <a:r>
              <a:rPr dirty="0" err="1"/>
              <a:t>survient</a:t>
            </a:r>
            <a:r>
              <a:rPr dirty="0"/>
              <a:t>, rien </a:t>
            </a:r>
            <a:r>
              <a:rPr dirty="0" err="1"/>
              <a:t>n’est</a:t>
            </a:r>
            <a:r>
              <a:rPr dirty="0"/>
              <a:t> </a:t>
            </a:r>
            <a:r>
              <a:rPr dirty="0" err="1"/>
              <a:t>modifié</a:t>
            </a:r>
            <a:r>
              <a:rPr dirty="0"/>
              <a:t>. Les </a:t>
            </a:r>
            <a:r>
              <a:rPr dirty="0" err="1"/>
              <a:t>clés</a:t>
            </a:r>
            <a:r>
              <a:rPr dirty="0"/>
              <a:t> </a:t>
            </a:r>
            <a:r>
              <a:rPr dirty="0" err="1"/>
              <a:t>primaires</a:t>
            </a:r>
            <a:r>
              <a:rPr dirty="0"/>
              <a:t>, </a:t>
            </a:r>
            <a:r>
              <a:rPr dirty="0" err="1"/>
              <a:t>étrangères</a:t>
            </a:r>
            <a:r>
              <a:rPr dirty="0"/>
              <a:t> et </a:t>
            </a:r>
            <a:r>
              <a:rPr dirty="0" err="1"/>
              <a:t>contraintes</a:t>
            </a:r>
            <a:r>
              <a:rPr dirty="0"/>
              <a:t> de PostgreSQL </a:t>
            </a:r>
            <a:r>
              <a:rPr dirty="0" err="1"/>
              <a:t>servent</a:t>
            </a:r>
            <a:r>
              <a:rPr dirty="0"/>
              <a:t> de </a:t>
            </a:r>
            <a:r>
              <a:rPr dirty="0" err="1"/>
              <a:t>seconde</a:t>
            </a:r>
            <a:r>
              <a:rPr dirty="0"/>
              <a:t> </a:t>
            </a:r>
            <a:r>
              <a:rPr dirty="0" err="1"/>
              <a:t>barrière</a:t>
            </a:r>
            <a:r>
              <a:rPr dirty="0"/>
              <a:t>. Les </a:t>
            </a:r>
            <a:r>
              <a:rPr dirty="0" err="1"/>
              <a:t>lignes</a:t>
            </a:r>
            <a:r>
              <a:rPr dirty="0"/>
              <a:t> </a:t>
            </a:r>
            <a:r>
              <a:rPr dirty="0" err="1"/>
              <a:t>refusées</a:t>
            </a:r>
            <a:r>
              <a:rPr dirty="0"/>
              <a:t> </a:t>
            </a:r>
            <a:r>
              <a:rPr dirty="0" err="1"/>
              <a:t>vont</a:t>
            </a:r>
            <a:r>
              <a:rPr dirty="0"/>
              <a:t> dans </a:t>
            </a:r>
            <a:r>
              <a:rPr dirty="0" err="1"/>
              <a:t>audit.rejected_records</a:t>
            </a:r>
            <a:r>
              <a:rPr dirty="0"/>
              <a:t> avec la </a:t>
            </a:r>
            <a:r>
              <a:rPr dirty="0" err="1"/>
              <a:t>règle</a:t>
            </a:r>
            <a:r>
              <a:rPr dirty="0"/>
              <a:t> </a:t>
            </a:r>
            <a:r>
              <a:rPr dirty="0" err="1"/>
              <a:t>enfreinte</a:t>
            </a:r>
            <a:r>
              <a:rPr dirty="0"/>
              <a:t>, un motif </a:t>
            </a:r>
            <a:r>
              <a:rPr dirty="0" err="1"/>
              <a:t>lisible</a:t>
            </a:r>
            <a:r>
              <a:rPr dirty="0"/>
              <a:t>, la </a:t>
            </a:r>
            <a:r>
              <a:rPr dirty="0" err="1"/>
              <a:t>ligne</a:t>
            </a:r>
            <a:r>
              <a:rPr dirty="0"/>
              <a:t> brute au format JSON et </a:t>
            </a:r>
            <a:r>
              <a:rPr dirty="0" err="1"/>
              <a:t>l’identifiant</a:t>
            </a:r>
            <a:r>
              <a:rPr dirty="0"/>
              <a:t> du run </a:t>
            </a:r>
            <a:r>
              <a:rPr dirty="0" err="1"/>
              <a:t>Dagster</a:t>
            </a:r>
            <a:r>
              <a:rPr dirty="0"/>
              <a:t>. </a:t>
            </a:r>
            <a:r>
              <a:rPr dirty="0" err="1"/>
              <a:t>C’est</a:t>
            </a:r>
            <a:r>
              <a:rPr dirty="0"/>
              <a:t> </a:t>
            </a:r>
            <a:r>
              <a:rPr dirty="0" err="1"/>
              <a:t>ce</a:t>
            </a:r>
            <a:r>
              <a:rPr dirty="0"/>
              <a:t> tableau qui </a:t>
            </a:r>
            <a:r>
              <a:rPr dirty="0" err="1"/>
              <a:t>répond</a:t>
            </a:r>
            <a:r>
              <a:rPr dirty="0"/>
              <a:t> à </a:t>
            </a:r>
            <a:r>
              <a:rPr dirty="0" err="1"/>
              <a:t>l’exigence</a:t>
            </a:r>
            <a:r>
              <a:rPr dirty="0"/>
              <a:t> du rapport des </a:t>
            </a:r>
            <a:r>
              <a:rPr dirty="0" err="1"/>
              <a:t>rejets</a:t>
            </a:r>
            <a:r>
              <a:rPr dirty="0"/>
              <a:t>.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L’API interroge uniquement les schémas dwh et audit. Les deux premiers points d’accès calculent des agrégats par période (jour, semaine, mois ou année) et par structure, avec des filtres facultatifs. Les deux derniers donnent le rapport des rejets : un résumé par règle et motif, et le détail ligne par ligne. FastAPI génère tout seul la documentation Swagger sur /docs et le contrat OpenAPI, enregistré dans docs/openapi.json. La capture montre la page /docs avec les routes techniques, référentielles, indicateurs et rejets.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professeur demande une installation possible sur une machine neuve. Quatre gestes : cloner le dépôt, démarrer les services avec Docker Compose (deux bases PostgreSQL, Dagster, FastAPI), charger la base source avec le fichier charger.sql, puis installer Airbyte avec sa procédure distincte (abctl). La capture montre docker compose ps : les services api, dagster, source-db et warehouse-db sont démarrés, et les deux bases sont en état healthy.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diapositive résume la procédure de test de bout en bout, à dérouler sur la machine de référence. Scénario nominal : on repart de zéro (docker compose down -v), on démarre avec up -d --build, on charge la source, on lance Sync now dans Airbyte (attendre Succeeded), Materialize all dans Dagster (attendre Success), puis verification.sql. Résultat attendu : 20 structures, 2 000 consultations, prestations égales à la source, 0 rejet. Dans le navigateur, /indicateurs/consultations?granularite=annee doit donner une somme de 2 000. Scénario d’erreurs : on charge le jeu dégradé, on refait Sync now puis Materialize all, puis verification.sql. Résultat attendu : 2 000 consultations chargées, 40 rejets pour le dernier run et un tableau de 8 lignes à 5 rejets.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 de bout en bout avec des données saines. On repart de zéro, on démarre, on charge la source, on lance la synchronisation Airbyte puis Dagster, et on lance le fichier de vérification. La capture montre le résultat : 20 structures, 2 000 consultations, 4 031 prestations (égales à la source) et 0 rejet.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On </a:t>
            </a:r>
            <a:r>
              <a:rPr dirty="0" err="1"/>
              <a:t>régénère</a:t>
            </a:r>
            <a:r>
              <a:rPr dirty="0"/>
              <a:t> les données avec 5 anomalies de </a:t>
            </a:r>
            <a:r>
              <a:rPr dirty="0" err="1"/>
              <a:t>chaque</a:t>
            </a:r>
            <a:r>
              <a:rPr dirty="0"/>
              <a:t> type dans les consultations et dans les </a:t>
            </a:r>
            <a:r>
              <a:rPr dirty="0" err="1"/>
              <a:t>prestations</a:t>
            </a:r>
            <a:r>
              <a:rPr dirty="0"/>
              <a:t> : </a:t>
            </a:r>
            <a:r>
              <a:rPr dirty="0" err="1"/>
              <a:t>identifiant</a:t>
            </a:r>
            <a:r>
              <a:rPr dirty="0"/>
              <a:t> </a:t>
            </a:r>
            <a:r>
              <a:rPr dirty="0" err="1"/>
              <a:t>en</a:t>
            </a:r>
            <a:r>
              <a:rPr dirty="0"/>
              <a:t> double, date dans le </a:t>
            </a:r>
            <a:r>
              <a:rPr dirty="0" err="1"/>
              <a:t>futur</a:t>
            </a:r>
            <a:r>
              <a:rPr dirty="0"/>
              <a:t>, champ </a:t>
            </a:r>
            <a:r>
              <a:rPr dirty="0" err="1"/>
              <a:t>obligatoire</a:t>
            </a:r>
            <a:r>
              <a:rPr dirty="0"/>
              <a:t> vide, </a:t>
            </a:r>
            <a:r>
              <a:rPr dirty="0" err="1"/>
              <a:t>identifiant</a:t>
            </a:r>
            <a:r>
              <a:rPr dirty="0"/>
              <a:t> </a:t>
            </a:r>
            <a:r>
              <a:rPr dirty="0" err="1"/>
              <a:t>invalide</a:t>
            </a:r>
            <a:r>
              <a:rPr dirty="0"/>
              <a:t>. Le </a:t>
            </a:r>
            <a:r>
              <a:rPr dirty="0" err="1"/>
              <a:t>générateur</a:t>
            </a:r>
            <a:r>
              <a:rPr dirty="0"/>
              <a:t> </a:t>
            </a:r>
            <a:r>
              <a:rPr dirty="0" err="1"/>
              <a:t>produit</a:t>
            </a:r>
            <a:r>
              <a:rPr dirty="0"/>
              <a:t> </a:t>
            </a:r>
            <a:r>
              <a:rPr dirty="0" err="1"/>
              <a:t>alors</a:t>
            </a:r>
            <a:r>
              <a:rPr dirty="0"/>
              <a:t> 2 020 consultations et 4 051 </a:t>
            </a:r>
            <a:r>
              <a:rPr dirty="0" err="1"/>
              <a:t>prestations</a:t>
            </a:r>
            <a:r>
              <a:rPr dirty="0"/>
              <a:t>, </a:t>
            </a:r>
            <a:r>
              <a:rPr dirty="0" err="1"/>
              <a:t>dont</a:t>
            </a:r>
            <a:r>
              <a:rPr dirty="0"/>
              <a:t> 20 anomalies par table. </a:t>
            </a:r>
            <a:r>
              <a:rPr dirty="0" err="1"/>
              <a:t>Résultat</a:t>
            </a:r>
            <a:r>
              <a:rPr dirty="0"/>
              <a:t> </a:t>
            </a:r>
            <a:r>
              <a:rPr dirty="0" err="1"/>
              <a:t>attendu</a:t>
            </a:r>
            <a:r>
              <a:rPr dirty="0"/>
              <a:t> : 40 </a:t>
            </a:r>
            <a:r>
              <a:rPr dirty="0" err="1"/>
              <a:t>rejets</a:t>
            </a:r>
            <a:r>
              <a:rPr dirty="0"/>
              <a:t>, </a:t>
            </a:r>
            <a:r>
              <a:rPr dirty="0" err="1"/>
              <a:t>soit</a:t>
            </a:r>
            <a:r>
              <a:rPr dirty="0"/>
              <a:t> 5 pour </a:t>
            </a:r>
            <a:r>
              <a:rPr dirty="0" err="1"/>
              <a:t>chacune</a:t>
            </a:r>
            <a:r>
              <a:rPr dirty="0"/>
              <a:t> des 8 </a:t>
            </a:r>
            <a:r>
              <a:rPr dirty="0" err="1"/>
              <a:t>combinaisons</a:t>
            </a:r>
            <a:r>
              <a:rPr dirty="0"/>
              <a:t> table et </a:t>
            </a:r>
            <a:r>
              <a:rPr dirty="0" err="1"/>
              <a:t>règle</a:t>
            </a:r>
            <a:r>
              <a:rPr dirty="0"/>
              <a:t>, et </a:t>
            </a:r>
            <a:r>
              <a:rPr dirty="0" err="1"/>
              <a:t>l’entrepôt</a:t>
            </a:r>
            <a:r>
              <a:rPr dirty="0"/>
              <a:t> </a:t>
            </a:r>
            <a:r>
              <a:rPr dirty="0" err="1"/>
              <a:t>garde</a:t>
            </a:r>
            <a:r>
              <a:rPr dirty="0"/>
              <a:t> </a:t>
            </a:r>
            <a:r>
              <a:rPr dirty="0" err="1"/>
              <a:t>ses</a:t>
            </a:r>
            <a:r>
              <a:rPr dirty="0"/>
              <a:t> 2 000 consultations saines.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Cette diapositive reprend les exigences du professeur : dépôt public avec code et dépendances, scripts SQL, configurations et contrat d’API, README (architecture, prérequis, installation), tests et résultats attendus, présentation. La capture montre le contenu du dépôt cloné sur une machine de test : api, dagster, data, docs, scripts, sql, tests, docker-compose.yml, .gitignore et README.md. Avant l’envoi par e-mail à kyfadeloumar@gmail.com (objet [PROJET_DEV_COMPOSANT_2026]), ouvrez le lien du dépôt dans une fenêtre privée pour vérifier qu’il est bien public.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Bilan : la chaîne est fiable (chaque défaut est détecté et expliqué), reproductible (Docker Compose) et lisible (indicateurs par période et par structure). Perspectives : déclencher la synchronisation Airbyte depuis Dagster, passer à une réplication incrémentale ou à la capture des changements, ajouter authentification et cache à l’API, et automatiser les tests. Limite à citer honnêtement : Airbyte est lourd en ressources et fonctionne par lots, donc la fraîcheur des données dépend de la fréquence de synchronisation.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Remerciez le jury et proposez la démonstration en direct : synchronisation Airbyte, run Dagster, puis la page /docs de l’API. Questions probables : pourquoi Full refresh, pourquoi Airbyte n’est pas dans Docker Compose, comment sont comptés les 40 rejets, que se passe-t-il si le chargement échoue (la transaction est annulée).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548640" y="1188720"/>
            <a:ext cx="5303520" cy="1783080"/>
          </a:xfrm>
          <a:prstGeom prst="rect">
            <a:avLst/>
          </a:prstGeom>
          <a:noFill/>
          <a:ln/>
        </p:spPr>
        <p:txBody>
          <a:bodyPr wrap="square" rtlCol="0"/>
          <a:lstStyle>
            <a:lvl1pPr marL="0" indent="0">
              <a:buNone/>
              <a:defRPr lang="en-US" sz="3800" b="1" dirty="0">
                <a:solidFill>
                  <a:schemeClr val="bg1"/>
                </a:solidFill>
              </a:defRPr>
            </a:lvl1pPr>
          </a:lstStyle>
          <a:p>
            <a:pPr marL="0" indent="0">
              <a:buNone/>
            </a:pPr>
            <a:endParaRPr lang="en-US" sz="3800" dirty="0"/>
          </a:p>
        </p:txBody>
      </p:sp>
      <p:sp>
        <p:nvSpPr>
          <p:cNvPr id="4" name="Text 1"/>
          <p:cNvSpPr>
            <a:spLocks noGrp="1"/>
          </p:cNvSpPr>
          <p:nvPr>
            <p:ph type="body" idx="102" hasCustomPrompt="1"/>
          </p:nvPr>
        </p:nvSpPr>
        <p:spPr>
          <a:xfrm>
            <a:off x="548640" y="3063240"/>
            <a:ext cx="5303520" cy="457200"/>
          </a:xfrm>
          <a:prstGeom prst="rect">
            <a:avLst/>
          </a:prstGeom>
          <a:noFill/>
          <a:ln/>
        </p:spPr>
        <p:txBody>
          <a:bodyPr wrap="square" rtlCol="0"/>
          <a:lstStyle>
            <a:lvl1pPr marL="0" indent="0">
              <a:buNone/>
              <a:defRPr lang="en-US" sz="1800" dirty="0">
                <a:solidFill>
                  <a:schemeClr val="accent1"/>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rtlCol="0"/>
          <a:lstStyle>
            <a:lvl1pPr marL="0" indent="0">
              <a:buNone/>
              <a:defRPr lang="en-US" sz="3400" b="1" dirty="0">
                <a:solidFill>
                  <a:schemeClr val="tx2"/>
                </a:solidFill>
              </a:defRPr>
            </a:lvl1pPr>
          </a:lstStyle>
          <a:p>
            <a:pPr marL="0" indent="0">
              <a:buNone/>
            </a:pPr>
            <a:endParaRPr lang="en-US" sz="3400" dirty="0"/>
          </a:p>
        </p:txBody>
      </p:sp>
      <p:sp>
        <p:nvSpPr>
          <p:cNvPr id="3" name="Text 0"/>
          <p:cNvSpPr/>
          <p:nvPr/>
        </p:nvSpPr>
        <p:spPr>
          <a:xfrm>
            <a:off x="548640" y="4754880"/>
            <a:ext cx="5486400" cy="228600"/>
          </a:xfrm>
          <a:prstGeom prst="rect">
            <a:avLst/>
          </a:prstGeom>
          <a:noFill/>
          <a:ln/>
        </p:spPr>
        <p:txBody>
          <a:bodyPr wrap="square" lIns="0" tIns="0" rIns="0" bIns="0" rtlCol="0" anchor="ctr"/>
          <a:lstStyle/>
          <a:p>
            <a:pPr marL="0" indent="0">
              <a:buNone/>
            </a:pPr>
            <a:r>
              <a:rPr lang="en-US" sz="1000" dirty="0">
                <a:solidFill>
                  <a:schemeClr val="tx1"/>
                </a:solidFill>
              </a:rPr>
              <a:t>Groupe 7 · SIE · TP n°19 · Airbyte, Dagster, FastAPI</a:t>
            </a:r>
            <a:endParaRPr lang="en-US" sz="10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hyperlink" Target="https://github.com/abdoulaziztao/tp19-pipeline-sanitaire_SIE" TargetMode="Externa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1485900"/>
            <a:ext cx="5394960" cy="1600200"/>
          </a:xfrm>
          <a:prstGeom prst="rect">
            <a:avLst/>
          </a:prstGeom>
          <a:noFill/>
          <a:ln/>
        </p:spPr>
        <p:txBody>
          <a:bodyPr wrap="square" lIns="0" tIns="0" rIns="0" bIns="0" rtlCol="0" anchor="t"/>
          <a:lstStyle/>
          <a:p>
            <a:pPr marL="0" indent="0" algn="l">
              <a:buNone/>
            </a:pPr>
            <a:r>
              <a:rPr lang="en-US" sz="3800" b="1" dirty="0">
                <a:solidFill>
                  <a:schemeClr val="bg1"/>
                </a:solidFill>
              </a:rPr>
              <a:t>Pipeline de données sanitaires fictives</a:t>
            </a:r>
            <a:endParaRPr lang="en-US" sz="3800" dirty="0"/>
          </a:p>
        </p:txBody>
      </p:sp>
      <p:sp>
        <p:nvSpPr>
          <p:cNvPr id="6" name="Text 3"/>
          <p:cNvSpPr txBox="1"/>
          <p:nvPr/>
        </p:nvSpPr>
        <p:spPr>
          <a:xfrm>
            <a:off x="548640" y="3840480"/>
            <a:ext cx="5303520" cy="320040"/>
          </a:xfrm>
          <a:prstGeom prst="rect">
            <a:avLst/>
          </a:prstGeom>
          <a:noFill/>
          <a:ln/>
        </p:spPr>
        <p:txBody>
          <a:bodyPr wrap="square" lIns="0" tIns="0" rIns="0" bIns="0" rtlCol="0" anchor="t"/>
          <a:lstStyle/>
          <a:p>
            <a:pPr marL="0" indent="0">
              <a:buNone/>
            </a:pPr>
            <a:r>
              <a:rPr lang="en-US" sz="1400" dirty="0">
                <a:solidFill>
                  <a:schemeClr val="bg1"/>
                </a:solidFill>
              </a:rPr>
              <a:t>Sujet 19 · Filière SIE · Groupe 7</a:t>
            </a:r>
            <a:endParaRPr lang="en-US" sz="1400" dirty="0"/>
          </a:p>
        </p:txBody>
      </p:sp>
      <p:sp>
        <p:nvSpPr>
          <p:cNvPr id="8" name="Shape 5"/>
          <p:cNvSpPr/>
          <p:nvPr/>
        </p:nvSpPr>
        <p:spPr>
          <a:xfrm>
            <a:off x="6858000" y="1600200"/>
            <a:ext cx="0" cy="2286000"/>
          </a:xfrm>
          <a:prstGeom prst="line">
            <a:avLst/>
          </a:prstGeom>
          <a:noFill/>
          <a:ln w="19050">
            <a:solidFill>
              <a:schemeClr val="accent4"/>
            </a:solidFill>
            <a:prstDash val="solid"/>
          </a:ln>
        </p:spPr>
      </p:sp>
      <p:sp>
        <p:nvSpPr>
          <p:cNvPr id="9" name="Pastille FaSyncAlt"/>
          <p:cNvSpPr/>
          <p:nvPr/>
        </p:nvSpPr>
        <p:spPr>
          <a:xfrm>
            <a:off x="6400800" y="1143000"/>
            <a:ext cx="914400" cy="914400"/>
          </a:xfrm>
          <a:prstGeom prst="ellipse">
            <a:avLst/>
          </a:prstGeom>
          <a:solidFill>
            <a:schemeClr val="accent1"/>
          </a:solidFill>
          <a:ln w="12700">
            <a:solidFill>
              <a:schemeClr val="accent1"/>
            </a:solidFill>
            <a:prstDash val="solid"/>
          </a:ln>
        </p:spPr>
      </p:sp>
      <p:pic>
        <p:nvPicPr>
          <p:cNvPr id="10" name="Image 0" descr="Icône FaSyncAlt"/>
          <p:cNvPicPr>
            <a:picLocks noChangeAspect="1"/>
          </p:cNvPicPr>
          <p:nvPr/>
        </p:nvPicPr>
        <p:blipFill>
          <a:blip r:embed="rId3"/>
          <a:stretch>
            <a:fillRect/>
          </a:stretch>
        </p:blipFill>
        <p:spPr>
          <a:xfrm>
            <a:off x="6629400" y="1371600"/>
            <a:ext cx="457200" cy="457200"/>
          </a:xfrm>
          <a:prstGeom prst="rect">
            <a:avLst/>
          </a:prstGeom>
        </p:spPr>
      </p:pic>
      <p:sp>
        <p:nvSpPr>
          <p:cNvPr id="11" name="Text 7"/>
          <p:cNvSpPr txBox="1"/>
          <p:nvPr/>
        </p:nvSpPr>
        <p:spPr>
          <a:xfrm>
            <a:off x="7498080" y="1417320"/>
            <a:ext cx="1280160" cy="365760"/>
          </a:xfrm>
          <a:prstGeom prst="rect">
            <a:avLst/>
          </a:prstGeom>
          <a:noFill/>
          <a:ln/>
        </p:spPr>
        <p:txBody>
          <a:bodyPr wrap="square" lIns="0" tIns="0" rIns="0" bIns="0" rtlCol="0" anchor="t"/>
          <a:lstStyle/>
          <a:p>
            <a:pPr marL="0" indent="0">
              <a:buNone/>
            </a:pPr>
            <a:r>
              <a:rPr lang="en-US" sz="1800" b="1" dirty="0">
                <a:solidFill>
                  <a:schemeClr val="bg1"/>
                </a:solidFill>
              </a:rPr>
              <a:t>Airbyte</a:t>
            </a:r>
            <a:endParaRPr lang="en-US" sz="1800" dirty="0"/>
          </a:p>
        </p:txBody>
      </p:sp>
      <p:sp>
        <p:nvSpPr>
          <p:cNvPr id="12" name="Pastille FaProjectDiagram"/>
          <p:cNvSpPr/>
          <p:nvPr/>
        </p:nvSpPr>
        <p:spPr>
          <a:xfrm>
            <a:off x="6400800" y="2286000"/>
            <a:ext cx="914400" cy="914400"/>
          </a:xfrm>
          <a:prstGeom prst="ellipse">
            <a:avLst/>
          </a:prstGeom>
          <a:solidFill>
            <a:schemeClr val="accent2"/>
          </a:solidFill>
          <a:ln w="12700">
            <a:solidFill>
              <a:schemeClr val="accent2"/>
            </a:solidFill>
            <a:prstDash val="solid"/>
          </a:ln>
        </p:spPr>
      </p:sp>
      <p:pic>
        <p:nvPicPr>
          <p:cNvPr id="13" name="Image 1" descr="Icône FaProjectDiagram"/>
          <p:cNvPicPr>
            <a:picLocks noChangeAspect="1"/>
          </p:cNvPicPr>
          <p:nvPr/>
        </p:nvPicPr>
        <p:blipFill>
          <a:blip r:embed="rId4"/>
          <a:stretch>
            <a:fillRect/>
          </a:stretch>
        </p:blipFill>
        <p:spPr>
          <a:xfrm>
            <a:off x="6629400" y="2514600"/>
            <a:ext cx="457200" cy="457200"/>
          </a:xfrm>
          <a:prstGeom prst="rect">
            <a:avLst/>
          </a:prstGeom>
        </p:spPr>
      </p:pic>
      <p:sp>
        <p:nvSpPr>
          <p:cNvPr id="14" name="Text 9"/>
          <p:cNvSpPr txBox="1"/>
          <p:nvPr/>
        </p:nvSpPr>
        <p:spPr>
          <a:xfrm>
            <a:off x="7498080" y="2560320"/>
            <a:ext cx="1280160" cy="365760"/>
          </a:xfrm>
          <a:prstGeom prst="rect">
            <a:avLst/>
          </a:prstGeom>
          <a:noFill/>
          <a:ln/>
        </p:spPr>
        <p:txBody>
          <a:bodyPr wrap="square" lIns="0" tIns="0" rIns="0" bIns="0" rtlCol="0" anchor="t"/>
          <a:lstStyle/>
          <a:p>
            <a:pPr marL="0" indent="0">
              <a:buNone/>
            </a:pPr>
            <a:r>
              <a:rPr lang="en-US" sz="1800" b="1" dirty="0">
                <a:solidFill>
                  <a:schemeClr val="bg1"/>
                </a:solidFill>
              </a:rPr>
              <a:t>Dagster</a:t>
            </a:r>
            <a:endParaRPr lang="en-US" sz="1800" dirty="0"/>
          </a:p>
        </p:txBody>
      </p:sp>
      <p:sp>
        <p:nvSpPr>
          <p:cNvPr id="15" name="Pastille FaBolt"/>
          <p:cNvSpPr/>
          <p:nvPr/>
        </p:nvSpPr>
        <p:spPr>
          <a:xfrm>
            <a:off x="6400800" y="3429000"/>
            <a:ext cx="914400" cy="914400"/>
          </a:xfrm>
          <a:prstGeom prst="ellipse">
            <a:avLst/>
          </a:prstGeom>
          <a:solidFill>
            <a:schemeClr val="accent1"/>
          </a:solidFill>
          <a:ln w="12700">
            <a:solidFill>
              <a:schemeClr val="accent1"/>
            </a:solidFill>
            <a:prstDash val="solid"/>
          </a:ln>
        </p:spPr>
      </p:sp>
      <p:pic>
        <p:nvPicPr>
          <p:cNvPr id="16" name="Image 2" descr="Icône FaBolt"/>
          <p:cNvPicPr>
            <a:picLocks noChangeAspect="1"/>
          </p:cNvPicPr>
          <p:nvPr/>
        </p:nvPicPr>
        <p:blipFill>
          <a:blip r:embed="rId5"/>
          <a:stretch>
            <a:fillRect/>
          </a:stretch>
        </p:blipFill>
        <p:spPr>
          <a:xfrm>
            <a:off x="6629400" y="3657600"/>
            <a:ext cx="457200" cy="457200"/>
          </a:xfrm>
          <a:prstGeom prst="rect">
            <a:avLst/>
          </a:prstGeom>
        </p:spPr>
      </p:pic>
      <p:sp>
        <p:nvSpPr>
          <p:cNvPr id="17" name="Text 11"/>
          <p:cNvSpPr txBox="1"/>
          <p:nvPr/>
        </p:nvSpPr>
        <p:spPr>
          <a:xfrm>
            <a:off x="7498080" y="3703320"/>
            <a:ext cx="1280160" cy="365760"/>
          </a:xfrm>
          <a:prstGeom prst="rect">
            <a:avLst/>
          </a:prstGeom>
          <a:noFill/>
          <a:ln/>
        </p:spPr>
        <p:txBody>
          <a:bodyPr wrap="square" lIns="0" tIns="0" rIns="0" bIns="0" rtlCol="0" anchor="t"/>
          <a:lstStyle/>
          <a:p>
            <a:pPr marL="0" indent="0">
              <a:buNone/>
            </a:pPr>
            <a:r>
              <a:rPr lang="en-US" sz="1800" b="1" dirty="0">
                <a:solidFill>
                  <a:schemeClr val="bg1"/>
                </a:solidFill>
              </a:rPr>
              <a:t>FastAPI</a:t>
            </a:r>
            <a:endParaRPr lang="en-US" sz="1800" dirty="0"/>
          </a:p>
        </p:txBody>
      </p:sp>
      <p:sp>
        <p:nvSpPr>
          <p:cNvPr id="22" name="Sur-titre"/>
          <p:cNvSpPr txBox="1"/>
          <p:nvPr/>
        </p:nvSpPr>
        <p:spPr>
          <a:xfrm>
            <a:off x="548640" y="708660"/>
            <a:ext cx="5577840" cy="274320"/>
          </a:xfrm>
          <a:prstGeom prst="rect">
            <a:avLst/>
          </a:prstGeom>
          <a:noFill/>
        </p:spPr>
        <p:txBody>
          <a:bodyPr wrap="square" lIns="0" tIns="0" rIns="0" bIns="0">
            <a:spAutoFit/>
          </a:bodyPr>
          <a:lstStyle/>
          <a:p>
            <a:r>
              <a:rPr sz="1000" b="1" spc="80" dirty="0">
                <a:solidFill>
                  <a:schemeClr val="accent1"/>
                </a:solidFill>
              </a:rPr>
              <a:t>PROJET DÉVELOPPEMENT À BASE DE COMPOSANTS ET SERVICES WEB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Un pipeline, trois missions</a:t>
            </a:r>
            <a:endParaRPr lang="en-US" sz="3400" dirty="0"/>
          </a:p>
        </p:txBody>
      </p:sp>
      <p:sp>
        <p:nvSpPr>
          <p:cNvPr id="4" name="Carte Collecter"/>
          <p:cNvSpPr/>
          <p:nvPr/>
        </p:nvSpPr>
        <p:spPr>
          <a:xfrm>
            <a:off x="548640" y="1371600"/>
            <a:ext cx="2560320" cy="2560320"/>
          </a:xfrm>
          <a:prstGeom prst="roundRect">
            <a:avLst>
              <a:gd name="adj" fmla="val 3571"/>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Pastille FaDatabase"/>
          <p:cNvSpPr/>
          <p:nvPr/>
        </p:nvSpPr>
        <p:spPr>
          <a:xfrm>
            <a:off x="822960" y="1645920"/>
            <a:ext cx="640080" cy="640080"/>
          </a:xfrm>
          <a:prstGeom prst="ellipse">
            <a:avLst/>
          </a:prstGeom>
          <a:solidFill>
            <a:schemeClr val="accent1"/>
          </a:solidFill>
          <a:ln w="12700">
            <a:solidFill>
              <a:schemeClr val="accent1"/>
            </a:solidFill>
            <a:prstDash val="solid"/>
          </a:ln>
        </p:spPr>
      </p:sp>
      <p:pic>
        <p:nvPicPr>
          <p:cNvPr id="6" name="Image 0" descr="Icône FaDatabase"/>
          <p:cNvPicPr>
            <a:picLocks noChangeAspect="1"/>
          </p:cNvPicPr>
          <p:nvPr/>
        </p:nvPicPr>
        <p:blipFill>
          <a:blip r:embed="rId3"/>
          <a:stretch>
            <a:fillRect/>
          </a:stretch>
        </p:blipFill>
        <p:spPr>
          <a:xfrm>
            <a:off x="982980" y="1805940"/>
            <a:ext cx="320040" cy="320040"/>
          </a:xfrm>
          <a:prstGeom prst="rect">
            <a:avLst/>
          </a:prstGeom>
        </p:spPr>
      </p:pic>
      <p:sp>
        <p:nvSpPr>
          <p:cNvPr id="7" name="Text 3"/>
          <p:cNvSpPr txBox="1"/>
          <p:nvPr/>
        </p:nvSpPr>
        <p:spPr>
          <a:xfrm>
            <a:off x="822960" y="2468880"/>
            <a:ext cx="2103120" cy="365760"/>
          </a:xfrm>
          <a:prstGeom prst="rect">
            <a:avLst/>
          </a:prstGeom>
          <a:noFill/>
          <a:ln/>
        </p:spPr>
        <p:txBody>
          <a:bodyPr wrap="square" lIns="0" tIns="0" rIns="0" bIns="0" rtlCol="0" anchor="t"/>
          <a:lstStyle/>
          <a:p>
            <a:pPr marL="0" indent="0">
              <a:buNone/>
            </a:pPr>
            <a:r>
              <a:rPr lang="en-US" sz="2000" b="1" dirty="0">
                <a:solidFill>
                  <a:schemeClr val="tx2"/>
                </a:solidFill>
              </a:rPr>
              <a:t>Collecter</a:t>
            </a:r>
            <a:endParaRPr lang="en-US" sz="2000" dirty="0"/>
          </a:p>
        </p:txBody>
      </p:sp>
      <p:sp>
        <p:nvSpPr>
          <p:cNvPr id="8" name="Text 4"/>
          <p:cNvSpPr txBox="1"/>
          <p:nvPr/>
        </p:nvSpPr>
        <p:spPr>
          <a:xfrm>
            <a:off x="822960" y="2926080"/>
            <a:ext cx="2057400" cy="914400"/>
          </a:xfrm>
          <a:prstGeom prst="rect">
            <a:avLst/>
          </a:prstGeom>
          <a:noFill/>
          <a:ln/>
        </p:spPr>
        <p:txBody>
          <a:bodyPr wrap="square" lIns="0" tIns="0" rIns="0" bIns="0" rtlCol="0" anchor="t"/>
          <a:lstStyle/>
          <a:p>
            <a:pPr marL="0" indent="0">
              <a:buNone/>
            </a:pPr>
            <a:r>
              <a:rPr lang="en-US" sz="1400" dirty="0">
                <a:solidFill>
                  <a:schemeClr val="tx1"/>
                </a:solidFill>
              </a:rPr>
              <a:t>Génération des données et réplication avec Airbyte vers PostgreSQL.</a:t>
            </a:r>
            <a:endParaRPr lang="en-US" sz="1400" dirty="0"/>
          </a:p>
        </p:txBody>
      </p:sp>
      <p:sp>
        <p:nvSpPr>
          <p:cNvPr id="9" name="Carte Contrôler"/>
          <p:cNvSpPr/>
          <p:nvPr/>
        </p:nvSpPr>
        <p:spPr>
          <a:xfrm>
            <a:off x="3291840" y="1371600"/>
            <a:ext cx="2560320" cy="2560320"/>
          </a:xfrm>
          <a:prstGeom prst="roundRect">
            <a:avLst>
              <a:gd name="adj" fmla="val 3571"/>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0" name="Pastille FaCheckCircle"/>
          <p:cNvSpPr/>
          <p:nvPr/>
        </p:nvSpPr>
        <p:spPr>
          <a:xfrm>
            <a:off x="3566160" y="1645920"/>
            <a:ext cx="640080" cy="640080"/>
          </a:xfrm>
          <a:prstGeom prst="ellipse">
            <a:avLst/>
          </a:prstGeom>
          <a:solidFill>
            <a:schemeClr val="accent2"/>
          </a:solidFill>
          <a:ln w="12700">
            <a:solidFill>
              <a:schemeClr val="accent2"/>
            </a:solidFill>
            <a:prstDash val="solid"/>
          </a:ln>
        </p:spPr>
      </p:sp>
      <p:pic>
        <p:nvPicPr>
          <p:cNvPr id="11" name="Image 1" descr="Icône FaCheckCircle"/>
          <p:cNvPicPr>
            <a:picLocks noChangeAspect="1"/>
          </p:cNvPicPr>
          <p:nvPr/>
        </p:nvPicPr>
        <p:blipFill>
          <a:blip r:embed="rId4"/>
          <a:stretch>
            <a:fillRect/>
          </a:stretch>
        </p:blipFill>
        <p:spPr>
          <a:xfrm>
            <a:off x="3726180" y="1805940"/>
            <a:ext cx="320040" cy="320040"/>
          </a:xfrm>
          <a:prstGeom prst="rect">
            <a:avLst/>
          </a:prstGeom>
        </p:spPr>
      </p:pic>
      <p:sp>
        <p:nvSpPr>
          <p:cNvPr id="12" name="Text 7"/>
          <p:cNvSpPr txBox="1"/>
          <p:nvPr/>
        </p:nvSpPr>
        <p:spPr>
          <a:xfrm>
            <a:off x="3566160" y="2468880"/>
            <a:ext cx="2103120" cy="365760"/>
          </a:xfrm>
          <a:prstGeom prst="rect">
            <a:avLst/>
          </a:prstGeom>
          <a:noFill/>
          <a:ln/>
        </p:spPr>
        <p:txBody>
          <a:bodyPr wrap="square" lIns="0" tIns="0" rIns="0" bIns="0" rtlCol="0" anchor="t"/>
          <a:lstStyle/>
          <a:p>
            <a:pPr marL="0" indent="0">
              <a:buNone/>
            </a:pPr>
            <a:r>
              <a:rPr lang="en-US" sz="2000" b="1" dirty="0">
                <a:solidFill>
                  <a:schemeClr val="tx2"/>
                </a:solidFill>
              </a:rPr>
              <a:t>Contrôler</a:t>
            </a:r>
            <a:endParaRPr lang="en-US" sz="2000" dirty="0"/>
          </a:p>
        </p:txBody>
      </p:sp>
      <p:sp>
        <p:nvSpPr>
          <p:cNvPr id="13" name="Text 8"/>
          <p:cNvSpPr txBox="1"/>
          <p:nvPr/>
        </p:nvSpPr>
        <p:spPr>
          <a:xfrm>
            <a:off x="3566160" y="2926080"/>
            <a:ext cx="2057400" cy="914400"/>
          </a:xfrm>
          <a:prstGeom prst="rect">
            <a:avLst/>
          </a:prstGeom>
          <a:noFill/>
          <a:ln/>
        </p:spPr>
        <p:txBody>
          <a:bodyPr wrap="square" lIns="0" tIns="0" rIns="0" bIns="0" rtlCol="0" anchor="t"/>
          <a:lstStyle/>
          <a:p>
            <a:pPr marL="0" indent="0">
              <a:buNone/>
            </a:pPr>
            <a:r>
              <a:rPr lang="en-US" sz="1400" dirty="0">
                <a:solidFill>
                  <a:schemeClr val="tx1"/>
                </a:solidFill>
              </a:rPr>
              <a:t>Quatre contrôles qualité avec Dagster. Les rejets sont expliqués.</a:t>
            </a:r>
            <a:endParaRPr lang="en-US" sz="1400" dirty="0"/>
          </a:p>
        </p:txBody>
      </p:sp>
      <p:sp>
        <p:nvSpPr>
          <p:cNvPr id="14" name="Carte Exposer"/>
          <p:cNvSpPr/>
          <p:nvPr/>
        </p:nvSpPr>
        <p:spPr>
          <a:xfrm>
            <a:off x="6035040" y="1371600"/>
            <a:ext cx="2560320" cy="2560320"/>
          </a:xfrm>
          <a:prstGeom prst="roundRect">
            <a:avLst>
              <a:gd name="adj" fmla="val 3571"/>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5" name="Pastille FaBolt"/>
          <p:cNvSpPr/>
          <p:nvPr/>
        </p:nvSpPr>
        <p:spPr>
          <a:xfrm>
            <a:off x="6309360" y="1645920"/>
            <a:ext cx="640080" cy="640080"/>
          </a:xfrm>
          <a:prstGeom prst="ellipse">
            <a:avLst/>
          </a:prstGeom>
          <a:solidFill>
            <a:schemeClr val="accent1"/>
          </a:solidFill>
          <a:ln w="12700">
            <a:solidFill>
              <a:schemeClr val="accent1"/>
            </a:solidFill>
            <a:prstDash val="solid"/>
          </a:ln>
        </p:spPr>
      </p:sp>
      <p:pic>
        <p:nvPicPr>
          <p:cNvPr id="16" name="Image 2" descr="Icône FaBolt"/>
          <p:cNvPicPr>
            <a:picLocks noChangeAspect="1"/>
          </p:cNvPicPr>
          <p:nvPr/>
        </p:nvPicPr>
        <p:blipFill>
          <a:blip r:embed="rId5"/>
          <a:stretch>
            <a:fillRect/>
          </a:stretch>
        </p:blipFill>
        <p:spPr>
          <a:xfrm>
            <a:off x="6469380" y="1805940"/>
            <a:ext cx="320040" cy="320040"/>
          </a:xfrm>
          <a:prstGeom prst="rect">
            <a:avLst/>
          </a:prstGeom>
        </p:spPr>
      </p:pic>
      <p:sp>
        <p:nvSpPr>
          <p:cNvPr id="17" name="Text 11"/>
          <p:cNvSpPr txBox="1"/>
          <p:nvPr/>
        </p:nvSpPr>
        <p:spPr>
          <a:xfrm>
            <a:off x="6309360" y="2468880"/>
            <a:ext cx="2103120" cy="365760"/>
          </a:xfrm>
          <a:prstGeom prst="rect">
            <a:avLst/>
          </a:prstGeom>
          <a:noFill/>
          <a:ln/>
        </p:spPr>
        <p:txBody>
          <a:bodyPr wrap="square" lIns="0" tIns="0" rIns="0" bIns="0" rtlCol="0" anchor="t"/>
          <a:lstStyle/>
          <a:p>
            <a:pPr marL="0" indent="0">
              <a:buNone/>
            </a:pPr>
            <a:r>
              <a:rPr lang="en-US" sz="2000" b="1" dirty="0">
                <a:solidFill>
                  <a:schemeClr val="tx2"/>
                </a:solidFill>
              </a:rPr>
              <a:t>Exposer</a:t>
            </a:r>
            <a:endParaRPr lang="en-US" sz="2000" dirty="0"/>
          </a:p>
        </p:txBody>
      </p:sp>
      <p:sp>
        <p:nvSpPr>
          <p:cNvPr id="18" name="Text 12"/>
          <p:cNvSpPr txBox="1"/>
          <p:nvPr/>
        </p:nvSpPr>
        <p:spPr>
          <a:xfrm>
            <a:off x="6309360" y="2926080"/>
            <a:ext cx="2057400" cy="914400"/>
          </a:xfrm>
          <a:prstGeom prst="rect">
            <a:avLst/>
          </a:prstGeom>
          <a:noFill/>
          <a:ln/>
        </p:spPr>
        <p:txBody>
          <a:bodyPr wrap="square" lIns="0" tIns="0" rIns="0" bIns="0" rtlCol="0" anchor="t"/>
          <a:lstStyle/>
          <a:p>
            <a:pPr marL="0" indent="0">
              <a:buNone/>
            </a:pPr>
            <a:r>
              <a:rPr lang="en-US" sz="1400" dirty="0">
                <a:solidFill>
                  <a:schemeClr val="tx1"/>
                </a:solidFill>
              </a:rPr>
              <a:t>Indicateurs par période et par structure avec FastAPI.</a:t>
            </a:r>
            <a:endParaRPr lang="en-US" sz="1400" dirty="0"/>
          </a:p>
        </p:txBody>
      </p:sp>
      <p:sp>
        <p:nvSpPr>
          <p:cNvPr id="19" name="Text 13"/>
          <p:cNvSpPr txBox="1"/>
          <p:nvPr/>
        </p:nvSpPr>
        <p:spPr>
          <a:xfrm>
            <a:off x="548640" y="4160520"/>
            <a:ext cx="8046720" cy="320040"/>
          </a:xfrm>
          <a:prstGeom prst="rect">
            <a:avLst/>
          </a:prstGeom>
          <a:noFill/>
          <a:ln/>
        </p:spPr>
        <p:txBody>
          <a:bodyPr wrap="square" lIns="0" tIns="0" rIns="0" bIns="0" rtlCol="0" anchor="t"/>
          <a:lstStyle/>
          <a:p>
            <a:pPr marL="0" indent="0">
              <a:buNone/>
            </a:pPr>
            <a:r>
              <a:rPr lang="en-US" sz="1400" i="1" dirty="0">
                <a:solidFill>
                  <a:schemeClr val="tx1"/>
                </a:solidFill>
              </a:rPr>
              <a:t>Données 100 % fictives · Installation reproductible avec Docker Compose</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Du fichier CSV à l’indicateur</a:t>
            </a:r>
            <a:endParaRPr lang="en-US" sz="3400" dirty="0"/>
          </a:p>
        </p:txBody>
      </p:sp>
      <p:sp>
        <p:nvSpPr>
          <p:cNvPr id="4" name="Shape 1"/>
          <p:cNvSpPr/>
          <p:nvPr/>
        </p:nvSpPr>
        <p:spPr>
          <a:xfrm>
            <a:off x="1170432" y="1874520"/>
            <a:ext cx="6812280" cy="0"/>
          </a:xfrm>
          <a:prstGeom prst="line">
            <a:avLst/>
          </a:prstGeom>
          <a:noFill/>
          <a:ln w="19050">
            <a:solidFill>
              <a:schemeClr val="accent4"/>
            </a:solidFill>
            <a:prstDash val="solid"/>
          </a:ln>
        </p:spPr>
      </p:sp>
      <p:sp>
        <p:nvSpPr>
          <p:cNvPr id="5" name="Étape Source PostgreSQL"/>
          <p:cNvSpPr/>
          <p:nvPr/>
        </p:nvSpPr>
        <p:spPr>
          <a:xfrm>
            <a:off x="548640" y="1417320"/>
            <a:ext cx="1234440" cy="1920240"/>
          </a:xfrm>
          <a:prstGeom prst="roundRect">
            <a:avLst>
              <a:gd name="adj" fmla="val 7407"/>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6" name="Pastille FaDatabase"/>
          <p:cNvSpPr/>
          <p:nvPr/>
        </p:nvSpPr>
        <p:spPr>
          <a:xfrm>
            <a:off x="891540" y="1600200"/>
            <a:ext cx="548640" cy="548640"/>
          </a:xfrm>
          <a:prstGeom prst="ellipse">
            <a:avLst/>
          </a:prstGeom>
          <a:solidFill>
            <a:schemeClr val="accent1"/>
          </a:solidFill>
          <a:ln w="12700">
            <a:solidFill>
              <a:schemeClr val="accent1"/>
            </a:solidFill>
            <a:prstDash val="solid"/>
          </a:ln>
        </p:spPr>
      </p:sp>
      <p:pic>
        <p:nvPicPr>
          <p:cNvPr id="7" name="Image 0" descr="Icône FaDatabase"/>
          <p:cNvPicPr>
            <a:picLocks noChangeAspect="1"/>
          </p:cNvPicPr>
          <p:nvPr/>
        </p:nvPicPr>
        <p:blipFill>
          <a:blip r:embed="rId3"/>
          <a:stretch>
            <a:fillRect/>
          </a:stretch>
        </p:blipFill>
        <p:spPr>
          <a:xfrm>
            <a:off x="1028700" y="1737360"/>
            <a:ext cx="274320" cy="274320"/>
          </a:xfrm>
          <a:prstGeom prst="rect">
            <a:avLst/>
          </a:prstGeom>
        </p:spPr>
      </p:pic>
      <p:sp>
        <p:nvSpPr>
          <p:cNvPr id="8" name="Text 4"/>
          <p:cNvSpPr txBox="1"/>
          <p:nvPr/>
        </p:nvSpPr>
        <p:spPr>
          <a:xfrm>
            <a:off x="621792" y="2331720"/>
            <a:ext cx="1088136" cy="502920"/>
          </a:xfrm>
          <a:prstGeom prst="rect">
            <a:avLst/>
          </a:prstGeom>
          <a:noFill/>
          <a:ln/>
        </p:spPr>
        <p:txBody>
          <a:bodyPr wrap="square" lIns="0" tIns="0" rIns="0" bIns="0" rtlCol="0" anchor="t"/>
          <a:lstStyle/>
          <a:p>
            <a:pPr marL="0" indent="0" algn="ctr">
              <a:buNone/>
            </a:pPr>
            <a:r>
              <a:rPr lang="en-US" sz="1400" b="1" dirty="0">
                <a:solidFill>
                  <a:schemeClr val="tx2"/>
                </a:solidFill>
              </a:rPr>
              <a:t>Source PostgreSQL</a:t>
            </a:r>
            <a:endParaRPr lang="en-US" sz="1400" dirty="0"/>
          </a:p>
        </p:txBody>
      </p:sp>
      <p:sp>
        <p:nvSpPr>
          <p:cNvPr id="9" name="Text 5"/>
          <p:cNvSpPr txBox="1"/>
          <p:nvPr/>
        </p:nvSpPr>
        <p:spPr>
          <a:xfrm>
            <a:off x="621792" y="2880360"/>
            <a:ext cx="1088136" cy="274320"/>
          </a:xfrm>
          <a:prstGeom prst="rect">
            <a:avLst/>
          </a:prstGeom>
          <a:noFill/>
          <a:ln/>
        </p:spPr>
        <p:txBody>
          <a:bodyPr wrap="square" lIns="0" tIns="0" rIns="0" bIns="0" rtlCol="0" anchor="t"/>
          <a:lstStyle/>
          <a:p>
            <a:pPr marL="0" indent="0" algn="ctr">
              <a:buNone/>
            </a:pPr>
            <a:r>
              <a:rPr lang="en-US" sz="1200" dirty="0">
                <a:solidFill>
                  <a:schemeClr val="tx1"/>
                </a:solidFill>
              </a:rPr>
              <a:t>port 5433</a:t>
            </a:r>
            <a:endParaRPr lang="en-US" sz="1200" dirty="0"/>
          </a:p>
        </p:txBody>
      </p:sp>
      <p:sp>
        <p:nvSpPr>
          <p:cNvPr id="10" name="Étape Airbyte"/>
          <p:cNvSpPr/>
          <p:nvPr/>
        </p:nvSpPr>
        <p:spPr>
          <a:xfrm>
            <a:off x="1911096" y="1417320"/>
            <a:ext cx="1234440" cy="1920240"/>
          </a:xfrm>
          <a:prstGeom prst="roundRect">
            <a:avLst>
              <a:gd name="adj" fmla="val 7407"/>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1" name="Pastille FaSyncAlt"/>
          <p:cNvSpPr/>
          <p:nvPr/>
        </p:nvSpPr>
        <p:spPr>
          <a:xfrm>
            <a:off x="2253996" y="1600200"/>
            <a:ext cx="548640" cy="548640"/>
          </a:xfrm>
          <a:prstGeom prst="ellipse">
            <a:avLst/>
          </a:prstGeom>
          <a:solidFill>
            <a:schemeClr val="accent2"/>
          </a:solidFill>
          <a:ln w="12700">
            <a:solidFill>
              <a:schemeClr val="accent2"/>
            </a:solidFill>
            <a:prstDash val="solid"/>
          </a:ln>
        </p:spPr>
      </p:sp>
      <p:pic>
        <p:nvPicPr>
          <p:cNvPr id="12" name="Image 1" descr="Icône FaSyncAlt"/>
          <p:cNvPicPr>
            <a:picLocks noChangeAspect="1"/>
          </p:cNvPicPr>
          <p:nvPr/>
        </p:nvPicPr>
        <p:blipFill>
          <a:blip r:embed="rId4"/>
          <a:stretch>
            <a:fillRect/>
          </a:stretch>
        </p:blipFill>
        <p:spPr>
          <a:xfrm>
            <a:off x="2391156" y="1737360"/>
            <a:ext cx="274320" cy="274320"/>
          </a:xfrm>
          <a:prstGeom prst="rect">
            <a:avLst/>
          </a:prstGeom>
        </p:spPr>
      </p:pic>
      <p:sp>
        <p:nvSpPr>
          <p:cNvPr id="13" name="Text 8"/>
          <p:cNvSpPr txBox="1"/>
          <p:nvPr/>
        </p:nvSpPr>
        <p:spPr>
          <a:xfrm>
            <a:off x="1984248" y="2331720"/>
            <a:ext cx="1088136" cy="502920"/>
          </a:xfrm>
          <a:prstGeom prst="rect">
            <a:avLst/>
          </a:prstGeom>
          <a:noFill/>
          <a:ln/>
        </p:spPr>
        <p:txBody>
          <a:bodyPr wrap="square" lIns="0" tIns="0" rIns="0" bIns="0" rtlCol="0" anchor="t"/>
          <a:lstStyle/>
          <a:p>
            <a:pPr marL="0" indent="0" algn="ctr">
              <a:buNone/>
            </a:pPr>
            <a:r>
              <a:rPr lang="en-US" sz="1400" b="1" dirty="0">
                <a:solidFill>
                  <a:schemeClr val="tx2"/>
                </a:solidFill>
              </a:rPr>
              <a:t>Airbyte</a:t>
            </a:r>
            <a:endParaRPr lang="en-US" sz="1400" dirty="0"/>
          </a:p>
        </p:txBody>
      </p:sp>
      <p:sp>
        <p:nvSpPr>
          <p:cNvPr id="14" name="Text 9"/>
          <p:cNvSpPr txBox="1"/>
          <p:nvPr/>
        </p:nvSpPr>
        <p:spPr>
          <a:xfrm>
            <a:off x="1984248" y="2880360"/>
            <a:ext cx="1088136" cy="274320"/>
          </a:xfrm>
          <a:prstGeom prst="rect">
            <a:avLst/>
          </a:prstGeom>
          <a:noFill/>
          <a:ln/>
        </p:spPr>
        <p:txBody>
          <a:bodyPr wrap="square" lIns="0" tIns="0" rIns="0" bIns="0" rtlCol="0" anchor="t"/>
          <a:lstStyle/>
          <a:p>
            <a:pPr marL="0" indent="0" algn="ctr">
              <a:buNone/>
            </a:pPr>
            <a:r>
              <a:rPr lang="en-US" sz="1200" dirty="0">
                <a:solidFill>
                  <a:schemeClr val="tx1"/>
                </a:solidFill>
              </a:rPr>
              <a:t>copie fidèle</a:t>
            </a:r>
            <a:endParaRPr lang="en-US" sz="1200" dirty="0"/>
          </a:p>
        </p:txBody>
      </p:sp>
      <p:sp>
        <p:nvSpPr>
          <p:cNvPr id="15" name="Étape Entrepôt brut"/>
          <p:cNvSpPr/>
          <p:nvPr/>
        </p:nvSpPr>
        <p:spPr>
          <a:xfrm>
            <a:off x="3273552" y="1417320"/>
            <a:ext cx="1234440" cy="1920240"/>
          </a:xfrm>
          <a:prstGeom prst="roundRect">
            <a:avLst>
              <a:gd name="adj" fmla="val 7407"/>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6" name="Pastille FaServer"/>
          <p:cNvSpPr/>
          <p:nvPr/>
        </p:nvSpPr>
        <p:spPr>
          <a:xfrm>
            <a:off x="3616452" y="1600200"/>
            <a:ext cx="548640" cy="548640"/>
          </a:xfrm>
          <a:prstGeom prst="ellipse">
            <a:avLst/>
          </a:prstGeom>
          <a:solidFill>
            <a:schemeClr val="accent1"/>
          </a:solidFill>
          <a:ln w="12700">
            <a:solidFill>
              <a:schemeClr val="accent1"/>
            </a:solidFill>
            <a:prstDash val="solid"/>
          </a:ln>
        </p:spPr>
      </p:sp>
      <p:pic>
        <p:nvPicPr>
          <p:cNvPr id="17" name="Image 2" descr="Icône FaServer"/>
          <p:cNvPicPr>
            <a:picLocks noChangeAspect="1"/>
          </p:cNvPicPr>
          <p:nvPr/>
        </p:nvPicPr>
        <p:blipFill>
          <a:blip r:embed="rId5"/>
          <a:stretch>
            <a:fillRect/>
          </a:stretch>
        </p:blipFill>
        <p:spPr>
          <a:xfrm>
            <a:off x="3753612" y="1737360"/>
            <a:ext cx="274320" cy="274320"/>
          </a:xfrm>
          <a:prstGeom prst="rect">
            <a:avLst/>
          </a:prstGeom>
        </p:spPr>
      </p:pic>
      <p:sp>
        <p:nvSpPr>
          <p:cNvPr id="18" name="Text 12"/>
          <p:cNvSpPr txBox="1"/>
          <p:nvPr/>
        </p:nvSpPr>
        <p:spPr>
          <a:xfrm>
            <a:off x="3346704" y="2331720"/>
            <a:ext cx="1088136" cy="502920"/>
          </a:xfrm>
          <a:prstGeom prst="rect">
            <a:avLst/>
          </a:prstGeom>
          <a:noFill/>
          <a:ln/>
        </p:spPr>
        <p:txBody>
          <a:bodyPr wrap="square" lIns="0" tIns="0" rIns="0" bIns="0" rtlCol="0" anchor="t"/>
          <a:lstStyle/>
          <a:p>
            <a:pPr marL="0" indent="0" algn="ctr">
              <a:buNone/>
            </a:pPr>
            <a:r>
              <a:rPr lang="en-US" sz="1400" b="1" dirty="0">
                <a:solidFill>
                  <a:schemeClr val="tx2"/>
                </a:solidFill>
              </a:rPr>
              <a:t>Entrepôt brut</a:t>
            </a:r>
            <a:endParaRPr lang="en-US" sz="1400" dirty="0"/>
          </a:p>
        </p:txBody>
      </p:sp>
      <p:sp>
        <p:nvSpPr>
          <p:cNvPr id="19" name="Text 13"/>
          <p:cNvSpPr txBox="1"/>
          <p:nvPr/>
        </p:nvSpPr>
        <p:spPr>
          <a:xfrm>
            <a:off x="3346704" y="2880360"/>
            <a:ext cx="1088136" cy="274320"/>
          </a:xfrm>
          <a:prstGeom prst="rect">
            <a:avLst/>
          </a:prstGeom>
          <a:noFill/>
          <a:ln/>
        </p:spPr>
        <p:txBody>
          <a:bodyPr wrap="square" lIns="0" tIns="0" rIns="0" bIns="0" rtlCol="0" anchor="t"/>
          <a:lstStyle/>
          <a:p>
            <a:pPr marL="0" indent="0" algn="ctr">
              <a:buNone/>
            </a:pPr>
            <a:r>
              <a:rPr lang="en-US" sz="1200" dirty="0">
                <a:solidFill>
                  <a:schemeClr val="tx1"/>
                </a:solidFill>
              </a:rPr>
              <a:t>schéma raw</a:t>
            </a:r>
            <a:endParaRPr lang="en-US" sz="1200" dirty="0"/>
          </a:p>
        </p:txBody>
      </p:sp>
      <p:sp>
        <p:nvSpPr>
          <p:cNvPr id="20" name="Étape Dagster"/>
          <p:cNvSpPr/>
          <p:nvPr/>
        </p:nvSpPr>
        <p:spPr>
          <a:xfrm>
            <a:off x="4636008" y="1417320"/>
            <a:ext cx="1234440" cy="1920240"/>
          </a:xfrm>
          <a:prstGeom prst="roundRect">
            <a:avLst>
              <a:gd name="adj" fmla="val 7407"/>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21" name="Pastille FaProjectDiagram"/>
          <p:cNvSpPr/>
          <p:nvPr/>
        </p:nvSpPr>
        <p:spPr>
          <a:xfrm>
            <a:off x="4978908" y="1600200"/>
            <a:ext cx="548640" cy="548640"/>
          </a:xfrm>
          <a:prstGeom prst="ellipse">
            <a:avLst/>
          </a:prstGeom>
          <a:solidFill>
            <a:schemeClr val="accent2"/>
          </a:solidFill>
          <a:ln w="12700">
            <a:solidFill>
              <a:schemeClr val="accent2"/>
            </a:solidFill>
            <a:prstDash val="solid"/>
          </a:ln>
        </p:spPr>
      </p:sp>
      <p:pic>
        <p:nvPicPr>
          <p:cNvPr id="22" name="Image 3" descr="Icône FaProjectDiagram"/>
          <p:cNvPicPr>
            <a:picLocks noChangeAspect="1"/>
          </p:cNvPicPr>
          <p:nvPr/>
        </p:nvPicPr>
        <p:blipFill>
          <a:blip r:embed="rId6"/>
          <a:stretch>
            <a:fillRect/>
          </a:stretch>
        </p:blipFill>
        <p:spPr>
          <a:xfrm>
            <a:off x="5116068" y="1737360"/>
            <a:ext cx="274320" cy="274320"/>
          </a:xfrm>
          <a:prstGeom prst="rect">
            <a:avLst/>
          </a:prstGeom>
        </p:spPr>
      </p:pic>
      <p:sp>
        <p:nvSpPr>
          <p:cNvPr id="23" name="Text 16"/>
          <p:cNvSpPr txBox="1"/>
          <p:nvPr/>
        </p:nvSpPr>
        <p:spPr>
          <a:xfrm>
            <a:off x="4709160" y="2331720"/>
            <a:ext cx="1088136" cy="502920"/>
          </a:xfrm>
          <a:prstGeom prst="rect">
            <a:avLst/>
          </a:prstGeom>
          <a:noFill/>
          <a:ln/>
        </p:spPr>
        <p:txBody>
          <a:bodyPr wrap="square" lIns="0" tIns="0" rIns="0" bIns="0" rtlCol="0" anchor="t"/>
          <a:lstStyle/>
          <a:p>
            <a:pPr marL="0" indent="0" algn="ctr">
              <a:buNone/>
            </a:pPr>
            <a:r>
              <a:rPr lang="en-US" sz="1400" b="1" dirty="0">
                <a:solidFill>
                  <a:schemeClr val="tx2"/>
                </a:solidFill>
              </a:rPr>
              <a:t>Dagster</a:t>
            </a:r>
            <a:endParaRPr lang="en-US" sz="1400" dirty="0"/>
          </a:p>
        </p:txBody>
      </p:sp>
      <p:sp>
        <p:nvSpPr>
          <p:cNvPr id="24" name="Text 17"/>
          <p:cNvSpPr txBox="1"/>
          <p:nvPr/>
        </p:nvSpPr>
        <p:spPr>
          <a:xfrm>
            <a:off x="4709160" y="2880360"/>
            <a:ext cx="1088136" cy="274320"/>
          </a:xfrm>
          <a:prstGeom prst="rect">
            <a:avLst/>
          </a:prstGeom>
          <a:noFill/>
          <a:ln/>
        </p:spPr>
        <p:txBody>
          <a:bodyPr wrap="square" lIns="0" tIns="0" rIns="0" bIns="0" rtlCol="0" anchor="t"/>
          <a:lstStyle/>
          <a:p>
            <a:pPr marL="0" indent="0" algn="ctr">
              <a:buNone/>
            </a:pPr>
            <a:r>
              <a:rPr lang="en-US" sz="1200" dirty="0">
                <a:solidFill>
                  <a:schemeClr val="tx1"/>
                </a:solidFill>
              </a:rPr>
              <a:t>contrôles</a:t>
            </a:r>
            <a:endParaRPr lang="en-US" sz="1200" dirty="0"/>
          </a:p>
        </p:txBody>
      </p:sp>
      <p:sp>
        <p:nvSpPr>
          <p:cNvPr id="25" name="Étape Entrepôt propre"/>
          <p:cNvSpPr/>
          <p:nvPr/>
        </p:nvSpPr>
        <p:spPr>
          <a:xfrm>
            <a:off x="5998464" y="1417320"/>
            <a:ext cx="1234440" cy="1920240"/>
          </a:xfrm>
          <a:prstGeom prst="roundRect">
            <a:avLst>
              <a:gd name="adj" fmla="val 7407"/>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26" name="Pastille FaCheckCircle"/>
          <p:cNvSpPr/>
          <p:nvPr/>
        </p:nvSpPr>
        <p:spPr>
          <a:xfrm>
            <a:off x="6341364" y="1600200"/>
            <a:ext cx="548640" cy="548640"/>
          </a:xfrm>
          <a:prstGeom prst="ellipse">
            <a:avLst/>
          </a:prstGeom>
          <a:solidFill>
            <a:schemeClr val="accent1"/>
          </a:solidFill>
          <a:ln w="12700">
            <a:solidFill>
              <a:schemeClr val="accent1"/>
            </a:solidFill>
            <a:prstDash val="solid"/>
          </a:ln>
        </p:spPr>
      </p:sp>
      <p:pic>
        <p:nvPicPr>
          <p:cNvPr id="27" name="Image 4" descr="Icône FaCheckCircle"/>
          <p:cNvPicPr>
            <a:picLocks noChangeAspect="1"/>
          </p:cNvPicPr>
          <p:nvPr/>
        </p:nvPicPr>
        <p:blipFill>
          <a:blip r:embed="rId7"/>
          <a:stretch>
            <a:fillRect/>
          </a:stretch>
        </p:blipFill>
        <p:spPr>
          <a:xfrm>
            <a:off x="6478524" y="1737360"/>
            <a:ext cx="274320" cy="274320"/>
          </a:xfrm>
          <a:prstGeom prst="rect">
            <a:avLst/>
          </a:prstGeom>
        </p:spPr>
      </p:pic>
      <p:sp>
        <p:nvSpPr>
          <p:cNvPr id="28" name="Text 20"/>
          <p:cNvSpPr txBox="1"/>
          <p:nvPr/>
        </p:nvSpPr>
        <p:spPr>
          <a:xfrm>
            <a:off x="6071616" y="2331720"/>
            <a:ext cx="1088136" cy="502920"/>
          </a:xfrm>
          <a:prstGeom prst="rect">
            <a:avLst/>
          </a:prstGeom>
          <a:noFill/>
          <a:ln/>
        </p:spPr>
        <p:txBody>
          <a:bodyPr wrap="square" lIns="0" tIns="0" rIns="0" bIns="0" rtlCol="0" anchor="t"/>
          <a:lstStyle/>
          <a:p>
            <a:pPr marL="0" indent="0" algn="ctr">
              <a:buNone/>
            </a:pPr>
            <a:r>
              <a:rPr lang="en-US" sz="1400" b="1" dirty="0">
                <a:solidFill>
                  <a:schemeClr val="tx2"/>
                </a:solidFill>
              </a:rPr>
              <a:t>Entrepôt propre</a:t>
            </a:r>
            <a:endParaRPr lang="en-US" sz="1400" dirty="0"/>
          </a:p>
        </p:txBody>
      </p:sp>
      <p:sp>
        <p:nvSpPr>
          <p:cNvPr id="29" name="Text 21"/>
          <p:cNvSpPr txBox="1"/>
          <p:nvPr/>
        </p:nvSpPr>
        <p:spPr>
          <a:xfrm>
            <a:off x="6071616" y="2880360"/>
            <a:ext cx="1088136" cy="274320"/>
          </a:xfrm>
          <a:prstGeom prst="rect">
            <a:avLst/>
          </a:prstGeom>
          <a:noFill/>
          <a:ln/>
        </p:spPr>
        <p:txBody>
          <a:bodyPr wrap="square" lIns="0" tIns="0" rIns="0" bIns="0" rtlCol="0" anchor="t"/>
          <a:lstStyle/>
          <a:p>
            <a:pPr marL="0" indent="0" algn="ctr">
              <a:buNone/>
            </a:pPr>
            <a:r>
              <a:rPr lang="en-US" sz="1200" dirty="0">
                <a:solidFill>
                  <a:schemeClr val="tx1"/>
                </a:solidFill>
              </a:rPr>
              <a:t>dwh et audit</a:t>
            </a:r>
            <a:endParaRPr lang="en-US" sz="1200" dirty="0"/>
          </a:p>
        </p:txBody>
      </p:sp>
      <p:sp>
        <p:nvSpPr>
          <p:cNvPr id="30" name="Étape FastAPI"/>
          <p:cNvSpPr/>
          <p:nvPr/>
        </p:nvSpPr>
        <p:spPr>
          <a:xfrm>
            <a:off x="7360920" y="1417320"/>
            <a:ext cx="1234440" cy="1920240"/>
          </a:xfrm>
          <a:prstGeom prst="roundRect">
            <a:avLst>
              <a:gd name="adj" fmla="val 7407"/>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31" name="Pastille FaBolt"/>
          <p:cNvSpPr/>
          <p:nvPr/>
        </p:nvSpPr>
        <p:spPr>
          <a:xfrm>
            <a:off x="7703820" y="1600200"/>
            <a:ext cx="548640" cy="548640"/>
          </a:xfrm>
          <a:prstGeom prst="ellipse">
            <a:avLst/>
          </a:prstGeom>
          <a:solidFill>
            <a:schemeClr val="accent2"/>
          </a:solidFill>
          <a:ln w="12700">
            <a:solidFill>
              <a:schemeClr val="accent2"/>
            </a:solidFill>
            <a:prstDash val="solid"/>
          </a:ln>
        </p:spPr>
      </p:sp>
      <p:pic>
        <p:nvPicPr>
          <p:cNvPr id="32" name="Image 5" descr="Icône FaBolt"/>
          <p:cNvPicPr>
            <a:picLocks noChangeAspect="1"/>
          </p:cNvPicPr>
          <p:nvPr/>
        </p:nvPicPr>
        <p:blipFill>
          <a:blip r:embed="rId8"/>
          <a:stretch>
            <a:fillRect/>
          </a:stretch>
        </p:blipFill>
        <p:spPr>
          <a:xfrm>
            <a:off x="7840980" y="1737360"/>
            <a:ext cx="274320" cy="274320"/>
          </a:xfrm>
          <a:prstGeom prst="rect">
            <a:avLst/>
          </a:prstGeom>
        </p:spPr>
      </p:pic>
      <p:sp>
        <p:nvSpPr>
          <p:cNvPr id="33" name="Text 24"/>
          <p:cNvSpPr txBox="1"/>
          <p:nvPr/>
        </p:nvSpPr>
        <p:spPr>
          <a:xfrm>
            <a:off x="7434072" y="2331720"/>
            <a:ext cx="1088136" cy="502920"/>
          </a:xfrm>
          <a:prstGeom prst="rect">
            <a:avLst/>
          </a:prstGeom>
          <a:noFill/>
          <a:ln/>
        </p:spPr>
        <p:txBody>
          <a:bodyPr wrap="square" lIns="0" tIns="0" rIns="0" bIns="0" rtlCol="0" anchor="t"/>
          <a:lstStyle/>
          <a:p>
            <a:pPr marL="0" indent="0" algn="ctr">
              <a:buNone/>
            </a:pPr>
            <a:r>
              <a:rPr lang="en-US" sz="1400" b="1" dirty="0">
                <a:solidFill>
                  <a:schemeClr val="tx2"/>
                </a:solidFill>
              </a:rPr>
              <a:t>FastAPI</a:t>
            </a:r>
            <a:endParaRPr lang="en-US" sz="1400" dirty="0"/>
          </a:p>
        </p:txBody>
      </p:sp>
      <p:sp>
        <p:nvSpPr>
          <p:cNvPr id="34" name="Text 25"/>
          <p:cNvSpPr txBox="1"/>
          <p:nvPr/>
        </p:nvSpPr>
        <p:spPr>
          <a:xfrm>
            <a:off x="7434072" y="2880360"/>
            <a:ext cx="1088136" cy="274320"/>
          </a:xfrm>
          <a:prstGeom prst="rect">
            <a:avLst/>
          </a:prstGeom>
          <a:noFill/>
          <a:ln/>
        </p:spPr>
        <p:txBody>
          <a:bodyPr wrap="square" lIns="0" tIns="0" rIns="0" bIns="0" rtlCol="0" anchor="t"/>
          <a:lstStyle/>
          <a:p>
            <a:pPr marL="0" indent="0" algn="ctr">
              <a:buNone/>
            </a:pPr>
            <a:r>
              <a:rPr lang="en-US" sz="1200" dirty="0">
                <a:solidFill>
                  <a:schemeClr val="tx1"/>
                </a:solidFill>
              </a:rPr>
              <a:t>indicateurs</a:t>
            </a:r>
            <a:endParaRPr lang="en-US" sz="1200" dirty="0"/>
          </a:p>
        </p:txBody>
      </p:sp>
      <p:sp>
        <p:nvSpPr>
          <p:cNvPr id="35" name="Atout 0"/>
          <p:cNvSpPr/>
          <p:nvPr/>
        </p:nvSpPr>
        <p:spPr>
          <a:xfrm>
            <a:off x="548640" y="3611880"/>
            <a:ext cx="2560320" cy="685800"/>
          </a:xfrm>
          <a:prstGeom prst="roundRect">
            <a:avLst>
              <a:gd name="adj" fmla="val 13333"/>
            </a:avLst>
          </a:prstGeom>
          <a:solidFill>
            <a:schemeClr val="accent1">
              <a:alpha val="12000"/>
            </a:schemeClr>
          </a:solidFill>
          <a:ln w="12700">
            <a:solidFill>
              <a:schemeClr val="accent1"/>
            </a:solidFill>
            <a:prstDash val="solid"/>
          </a:ln>
        </p:spPr>
      </p:sp>
      <p:sp>
        <p:nvSpPr>
          <p:cNvPr id="36" name="Text 27"/>
          <p:cNvSpPr txBox="1"/>
          <p:nvPr/>
        </p:nvSpPr>
        <p:spPr>
          <a:xfrm>
            <a:off x="685800" y="3611880"/>
            <a:ext cx="2286000" cy="685800"/>
          </a:xfrm>
          <a:prstGeom prst="rect">
            <a:avLst/>
          </a:prstGeom>
          <a:noFill/>
          <a:ln/>
        </p:spPr>
        <p:txBody>
          <a:bodyPr wrap="square" lIns="0" tIns="0" rIns="0" bIns="0" rtlCol="0" anchor="ctr"/>
          <a:lstStyle/>
          <a:p>
            <a:pPr marL="0" indent="0">
              <a:buNone/>
            </a:pPr>
            <a:r>
              <a:rPr lang="en-US" sz="1400" b="1" dirty="0">
                <a:solidFill>
                  <a:schemeClr val="tx2"/>
                </a:solidFill>
              </a:rPr>
              <a:t>Copie de la source, doublons compris</a:t>
            </a:r>
            <a:endParaRPr lang="en-US" sz="1400" dirty="0"/>
          </a:p>
        </p:txBody>
      </p:sp>
      <p:sp>
        <p:nvSpPr>
          <p:cNvPr id="37" name="Atout 1"/>
          <p:cNvSpPr/>
          <p:nvPr/>
        </p:nvSpPr>
        <p:spPr>
          <a:xfrm>
            <a:off x="3291840" y="3611880"/>
            <a:ext cx="2560320" cy="685800"/>
          </a:xfrm>
          <a:prstGeom prst="roundRect">
            <a:avLst>
              <a:gd name="adj" fmla="val 13333"/>
            </a:avLst>
          </a:prstGeom>
          <a:solidFill>
            <a:schemeClr val="accent1">
              <a:alpha val="12000"/>
            </a:schemeClr>
          </a:solidFill>
          <a:ln w="12700">
            <a:solidFill>
              <a:schemeClr val="accent1"/>
            </a:solidFill>
            <a:prstDash val="solid"/>
          </a:ln>
        </p:spPr>
      </p:sp>
      <p:sp>
        <p:nvSpPr>
          <p:cNvPr id="38" name="Text 29"/>
          <p:cNvSpPr txBox="1"/>
          <p:nvPr/>
        </p:nvSpPr>
        <p:spPr>
          <a:xfrm>
            <a:off x="3429000" y="3611880"/>
            <a:ext cx="2286000" cy="685800"/>
          </a:xfrm>
          <a:prstGeom prst="rect">
            <a:avLst/>
          </a:prstGeom>
          <a:noFill/>
          <a:ln/>
        </p:spPr>
        <p:txBody>
          <a:bodyPr wrap="square" lIns="0" tIns="0" rIns="0" bIns="0" rtlCol="0" anchor="ctr"/>
          <a:lstStyle/>
          <a:p>
            <a:pPr marL="0" indent="0">
              <a:buNone/>
            </a:pPr>
            <a:r>
              <a:rPr lang="en-US" sz="1400" b="1" dirty="0">
                <a:solidFill>
                  <a:schemeClr val="tx2"/>
                </a:solidFill>
              </a:rPr>
              <a:t>Contrôles et rejets tracés avant chargement</a:t>
            </a:r>
            <a:endParaRPr lang="en-US" sz="1400" dirty="0"/>
          </a:p>
        </p:txBody>
      </p:sp>
      <p:sp>
        <p:nvSpPr>
          <p:cNvPr id="39" name="Atout 2"/>
          <p:cNvSpPr/>
          <p:nvPr/>
        </p:nvSpPr>
        <p:spPr>
          <a:xfrm>
            <a:off x="6035040" y="3611880"/>
            <a:ext cx="2560320" cy="685800"/>
          </a:xfrm>
          <a:prstGeom prst="roundRect">
            <a:avLst>
              <a:gd name="adj" fmla="val 13333"/>
            </a:avLst>
          </a:prstGeom>
          <a:solidFill>
            <a:schemeClr val="accent1">
              <a:alpha val="12000"/>
            </a:schemeClr>
          </a:solidFill>
          <a:ln w="12700">
            <a:solidFill>
              <a:schemeClr val="accent1"/>
            </a:solidFill>
            <a:prstDash val="solid"/>
          </a:ln>
        </p:spPr>
      </p:sp>
      <p:sp>
        <p:nvSpPr>
          <p:cNvPr id="40" name="Text 31"/>
          <p:cNvSpPr txBox="1"/>
          <p:nvPr/>
        </p:nvSpPr>
        <p:spPr>
          <a:xfrm>
            <a:off x="6172200" y="3611880"/>
            <a:ext cx="2286000" cy="685800"/>
          </a:xfrm>
          <a:prstGeom prst="rect">
            <a:avLst/>
          </a:prstGeom>
          <a:noFill/>
          <a:ln/>
        </p:spPr>
        <p:txBody>
          <a:bodyPr wrap="square" lIns="0" tIns="0" rIns="0" bIns="0" rtlCol="0" anchor="ctr"/>
          <a:lstStyle/>
          <a:p>
            <a:pPr marL="0" indent="0">
              <a:buNone/>
            </a:pPr>
            <a:r>
              <a:rPr lang="en-US" sz="1400" b="1" dirty="0">
                <a:solidFill>
                  <a:schemeClr val="tx2"/>
                </a:solidFill>
              </a:rPr>
              <a:t>API documentée, Swagger sur /docs</a:t>
            </a:r>
            <a:endParaRPr lang="en-US" sz="1400" dirty="0"/>
          </a:p>
        </p:txBody>
      </p:sp>
      <p:sp>
        <p:nvSpPr>
          <p:cNvPr id="3"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Cinq membres, cinq rôles</a:t>
            </a:r>
            <a:endParaRPr lang="en-US" sz="3400" dirty="0"/>
          </a:p>
        </p:txBody>
      </p:sp>
      <p:sp>
        <p:nvSpPr>
          <p:cNvPr id="4" name="Rôle 1"/>
          <p:cNvSpPr/>
          <p:nvPr/>
        </p:nvSpPr>
        <p:spPr>
          <a:xfrm>
            <a:off x="548640" y="1371600"/>
            <a:ext cx="1463040" cy="2834640"/>
          </a:xfrm>
          <a:prstGeom prst="roundRect">
            <a:avLst>
              <a:gd name="adj" fmla="val 6250"/>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Pastille FaUsers"/>
          <p:cNvSpPr/>
          <p:nvPr/>
        </p:nvSpPr>
        <p:spPr>
          <a:xfrm>
            <a:off x="777240" y="1600200"/>
            <a:ext cx="548640" cy="548640"/>
          </a:xfrm>
          <a:prstGeom prst="ellipse">
            <a:avLst/>
          </a:prstGeom>
          <a:solidFill>
            <a:schemeClr val="accent1"/>
          </a:solidFill>
          <a:ln w="12700">
            <a:solidFill>
              <a:schemeClr val="accent1"/>
            </a:solidFill>
            <a:prstDash val="solid"/>
          </a:ln>
        </p:spPr>
      </p:sp>
      <p:pic>
        <p:nvPicPr>
          <p:cNvPr id="6" name="Image 0" descr="Icône FaUsers"/>
          <p:cNvPicPr>
            <a:picLocks noChangeAspect="1"/>
          </p:cNvPicPr>
          <p:nvPr/>
        </p:nvPicPr>
        <p:blipFill>
          <a:blip r:embed="rId3"/>
          <a:stretch>
            <a:fillRect/>
          </a:stretch>
        </p:blipFill>
        <p:spPr>
          <a:xfrm>
            <a:off x="914400" y="1737360"/>
            <a:ext cx="274320" cy="274320"/>
          </a:xfrm>
          <a:prstGeom prst="rect">
            <a:avLst/>
          </a:prstGeom>
        </p:spPr>
      </p:pic>
      <p:sp>
        <p:nvSpPr>
          <p:cNvPr id="7" name="Text 3"/>
          <p:cNvSpPr txBox="1"/>
          <p:nvPr/>
        </p:nvSpPr>
        <p:spPr>
          <a:xfrm>
            <a:off x="658368" y="2331720"/>
            <a:ext cx="1280160" cy="274320"/>
          </a:xfrm>
          <a:prstGeom prst="rect">
            <a:avLst/>
          </a:prstGeom>
          <a:noFill/>
          <a:ln/>
        </p:spPr>
        <p:txBody>
          <a:bodyPr wrap="square" lIns="0" tIns="0" rIns="0" bIns="0" rtlCol="0" anchor="t"/>
          <a:lstStyle/>
          <a:p>
            <a:pPr marL="0" indent="0">
              <a:buNone/>
            </a:pPr>
            <a:r>
              <a:rPr lang="en-US" sz="1100" b="1" dirty="0">
                <a:solidFill>
                  <a:schemeClr val="tx1"/>
                </a:solidFill>
              </a:rPr>
              <a:t>SAVADOGO Adjaratou</a:t>
            </a:r>
            <a:endParaRPr lang="en-US" sz="1200" dirty="0"/>
          </a:p>
        </p:txBody>
      </p:sp>
      <p:sp>
        <p:nvSpPr>
          <p:cNvPr id="8" name="Text 4"/>
          <p:cNvSpPr txBox="1"/>
          <p:nvPr/>
        </p:nvSpPr>
        <p:spPr>
          <a:xfrm>
            <a:off x="685800" y="2651760"/>
            <a:ext cx="1188720" cy="731520"/>
          </a:xfrm>
          <a:prstGeom prst="rect">
            <a:avLst/>
          </a:prstGeom>
          <a:noFill/>
          <a:ln/>
        </p:spPr>
        <p:txBody>
          <a:bodyPr wrap="square" lIns="0" tIns="0" rIns="0" bIns="0" rtlCol="0" anchor="t"/>
          <a:lstStyle/>
          <a:p>
            <a:pPr marL="0" indent="0">
              <a:buNone/>
            </a:pPr>
            <a:r>
              <a:rPr lang="en-US" sz="1600" b="1" dirty="0">
                <a:solidFill>
                  <a:schemeClr val="tx2"/>
                </a:solidFill>
              </a:rPr>
              <a:t>Données et base</a:t>
            </a:r>
            <a:endParaRPr lang="en-US" sz="1600" dirty="0"/>
          </a:p>
        </p:txBody>
      </p:sp>
      <p:sp>
        <p:nvSpPr>
          <p:cNvPr id="9" name="Text 5"/>
          <p:cNvSpPr txBox="1"/>
          <p:nvPr/>
        </p:nvSpPr>
        <p:spPr>
          <a:xfrm>
            <a:off x="685800" y="3429000"/>
            <a:ext cx="1188720" cy="731520"/>
          </a:xfrm>
          <a:prstGeom prst="rect">
            <a:avLst/>
          </a:prstGeom>
          <a:noFill/>
          <a:ln/>
        </p:spPr>
        <p:txBody>
          <a:bodyPr wrap="square" lIns="0" tIns="0" rIns="0" bIns="0" rtlCol="0" anchor="t"/>
          <a:lstStyle/>
          <a:p>
            <a:pPr marL="0" indent="0">
              <a:buNone/>
            </a:pPr>
            <a:r>
              <a:rPr lang="en-US" sz="1400" dirty="0">
                <a:solidFill>
                  <a:schemeClr val="tx1"/>
                </a:solidFill>
              </a:rPr>
              <a:t>Génération, SQL, dictionnaire</a:t>
            </a:r>
            <a:endParaRPr lang="en-US" sz="1400" dirty="0"/>
          </a:p>
        </p:txBody>
      </p:sp>
      <p:sp>
        <p:nvSpPr>
          <p:cNvPr id="10" name="Rôle 2"/>
          <p:cNvSpPr/>
          <p:nvPr/>
        </p:nvSpPr>
        <p:spPr>
          <a:xfrm>
            <a:off x="2194560" y="1371600"/>
            <a:ext cx="1463040" cy="2834640"/>
          </a:xfrm>
          <a:prstGeom prst="roundRect">
            <a:avLst>
              <a:gd name="adj" fmla="val 6250"/>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1" name="Pastille FaUsers"/>
          <p:cNvSpPr/>
          <p:nvPr/>
        </p:nvSpPr>
        <p:spPr>
          <a:xfrm>
            <a:off x="2423160" y="1600200"/>
            <a:ext cx="548640" cy="548640"/>
          </a:xfrm>
          <a:prstGeom prst="ellipse">
            <a:avLst/>
          </a:prstGeom>
          <a:solidFill>
            <a:schemeClr val="accent2"/>
          </a:solidFill>
          <a:ln w="12700">
            <a:solidFill>
              <a:schemeClr val="accent2"/>
            </a:solidFill>
            <a:prstDash val="solid"/>
          </a:ln>
        </p:spPr>
      </p:sp>
      <p:pic>
        <p:nvPicPr>
          <p:cNvPr id="12" name="Image 1" descr="Icône FaUsers"/>
          <p:cNvPicPr>
            <a:picLocks noChangeAspect="1"/>
          </p:cNvPicPr>
          <p:nvPr/>
        </p:nvPicPr>
        <p:blipFill>
          <a:blip r:embed="rId3"/>
          <a:stretch>
            <a:fillRect/>
          </a:stretch>
        </p:blipFill>
        <p:spPr>
          <a:xfrm>
            <a:off x="2560320" y="1737360"/>
            <a:ext cx="274320" cy="274320"/>
          </a:xfrm>
          <a:prstGeom prst="rect">
            <a:avLst/>
          </a:prstGeom>
        </p:spPr>
      </p:pic>
      <p:sp>
        <p:nvSpPr>
          <p:cNvPr id="13" name="Text 8"/>
          <p:cNvSpPr txBox="1"/>
          <p:nvPr/>
        </p:nvSpPr>
        <p:spPr>
          <a:xfrm>
            <a:off x="2304288" y="2331720"/>
            <a:ext cx="1280160" cy="274320"/>
          </a:xfrm>
          <a:prstGeom prst="rect">
            <a:avLst/>
          </a:prstGeom>
          <a:noFill/>
          <a:ln/>
        </p:spPr>
        <p:txBody>
          <a:bodyPr wrap="square" lIns="0" tIns="0" rIns="0" bIns="0" rtlCol="0" anchor="t"/>
          <a:lstStyle/>
          <a:p>
            <a:pPr marL="0" indent="0">
              <a:buNone/>
            </a:pPr>
            <a:r>
              <a:rPr lang="en-US" sz="1100" b="1" dirty="0"/>
              <a:t>TAO Abdoul Aziz</a:t>
            </a:r>
          </a:p>
        </p:txBody>
      </p:sp>
      <p:sp>
        <p:nvSpPr>
          <p:cNvPr id="14" name="Text 9"/>
          <p:cNvSpPr txBox="1"/>
          <p:nvPr/>
        </p:nvSpPr>
        <p:spPr>
          <a:xfrm>
            <a:off x="2331720" y="2651760"/>
            <a:ext cx="1188720" cy="731520"/>
          </a:xfrm>
          <a:prstGeom prst="rect">
            <a:avLst/>
          </a:prstGeom>
          <a:noFill/>
          <a:ln/>
        </p:spPr>
        <p:txBody>
          <a:bodyPr wrap="square" lIns="0" tIns="0" rIns="0" bIns="0" rtlCol="0" anchor="t"/>
          <a:lstStyle/>
          <a:p>
            <a:pPr marL="0" indent="0">
              <a:buNone/>
            </a:pPr>
            <a:r>
              <a:rPr lang="en-US" sz="1600" b="1" dirty="0">
                <a:solidFill>
                  <a:schemeClr val="tx2"/>
                </a:solidFill>
              </a:rPr>
              <a:t>Airbyte</a:t>
            </a:r>
            <a:endParaRPr lang="en-US" sz="1600" dirty="0"/>
          </a:p>
        </p:txBody>
      </p:sp>
      <p:sp>
        <p:nvSpPr>
          <p:cNvPr id="15" name="Text 10"/>
          <p:cNvSpPr txBox="1"/>
          <p:nvPr/>
        </p:nvSpPr>
        <p:spPr>
          <a:xfrm>
            <a:off x="2331720" y="3429000"/>
            <a:ext cx="1188720" cy="731520"/>
          </a:xfrm>
          <a:prstGeom prst="rect">
            <a:avLst/>
          </a:prstGeom>
          <a:noFill/>
          <a:ln/>
        </p:spPr>
        <p:txBody>
          <a:bodyPr wrap="square" lIns="0" tIns="0" rIns="0" bIns="0" rtlCol="0" anchor="t"/>
          <a:lstStyle/>
          <a:p>
            <a:pPr marL="0" indent="0">
              <a:buNone/>
            </a:pPr>
            <a:r>
              <a:rPr lang="en-US" sz="1400" dirty="0">
                <a:solidFill>
                  <a:schemeClr val="tx1"/>
                </a:solidFill>
              </a:rPr>
              <a:t>Source, destination, connexion</a:t>
            </a:r>
            <a:endParaRPr lang="en-US" sz="1400" dirty="0"/>
          </a:p>
        </p:txBody>
      </p:sp>
      <p:sp>
        <p:nvSpPr>
          <p:cNvPr id="16" name="Rôle 3"/>
          <p:cNvSpPr/>
          <p:nvPr/>
        </p:nvSpPr>
        <p:spPr>
          <a:xfrm>
            <a:off x="3840480" y="1371600"/>
            <a:ext cx="1463040" cy="2834640"/>
          </a:xfrm>
          <a:prstGeom prst="roundRect">
            <a:avLst>
              <a:gd name="adj" fmla="val 6250"/>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7" name="Pastille FaUsers"/>
          <p:cNvSpPr/>
          <p:nvPr/>
        </p:nvSpPr>
        <p:spPr>
          <a:xfrm>
            <a:off x="4069080" y="1600200"/>
            <a:ext cx="548640" cy="548640"/>
          </a:xfrm>
          <a:prstGeom prst="ellipse">
            <a:avLst/>
          </a:prstGeom>
          <a:solidFill>
            <a:schemeClr val="accent1"/>
          </a:solidFill>
          <a:ln w="12700">
            <a:solidFill>
              <a:schemeClr val="accent1"/>
            </a:solidFill>
            <a:prstDash val="solid"/>
          </a:ln>
        </p:spPr>
      </p:sp>
      <p:pic>
        <p:nvPicPr>
          <p:cNvPr id="18" name="Image 2" descr="Icône FaUsers"/>
          <p:cNvPicPr>
            <a:picLocks noChangeAspect="1"/>
          </p:cNvPicPr>
          <p:nvPr/>
        </p:nvPicPr>
        <p:blipFill>
          <a:blip r:embed="rId3"/>
          <a:stretch>
            <a:fillRect/>
          </a:stretch>
        </p:blipFill>
        <p:spPr>
          <a:xfrm>
            <a:off x="4206240" y="1737360"/>
            <a:ext cx="274320" cy="274320"/>
          </a:xfrm>
          <a:prstGeom prst="rect">
            <a:avLst/>
          </a:prstGeom>
        </p:spPr>
      </p:pic>
      <p:sp>
        <p:nvSpPr>
          <p:cNvPr id="19" name="Text 13"/>
          <p:cNvSpPr txBox="1"/>
          <p:nvPr/>
        </p:nvSpPr>
        <p:spPr>
          <a:xfrm>
            <a:off x="3950208" y="2331720"/>
            <a:ext cx="1280160" cy="274320"/>
          </a:xfrm>
          <a:prstGeom prst="rect">
            <a:avLst/>
          </a:prstGeom>
          <a:noFill/>
          <a:ln/>
        </p:spPr>
        <p:txBody>
          <a:bodyPr wrap="square" lIns="0" tIns="0" rIns="0" bIns="0" rtlCol="0" anchor="t"/>
          <a:lstStyle/>
          <a:p>
            <a:pPr marL="0" indent="0">
              <a:buNone/>
            </a:pPr>
            <a:r>
              <a:rPr lang="en-US" sz="1100" b="1" dirty="0"/>
              <a:t>OUEDRAOGO Adama</a:t>
            </a:r>
          </a:p>
        </p:txBody>
      </p:sp>
      <p:sp>
        <p:nvSpPr>
          <p:cNvPr id="20" name="Text 14"/>
          <p:cNvSpPr txBox="1"/>
          <p:nvPr/>
        </p:nvSpPr>
        <p:spPr>
          <a:xfrm>
            <a:off x="3977640" y="2651760"/>
            <a:ext cx="1188720" cy="731520"/>
          </a:xfrm>
          <a:prstGeom prst="rect">
            <a:avLst/>
          </a:prstGeom>
          <a:noFill/>
          <a:ln/>
        </p:spPr>
        <p:txBody>
          <a:bodyPr wrap="square" lIns="0" tIns="0" rIns="0" bIns="0" rtlCol="0" anchor="t"/>
          <a:lstStyle/>
          <a:p>
            <a:pPr marL="0" indent="0">
              <a:buNone/>
            </a:pPr>
            <a:r>
              <a:rPr lang="en-US" sz="1600" b="1" dirty="0">
                <a:solidFill>
                  <a:schemeClr val="tx2"/>
                </a:solidFill>
              </a:rPr>
              <a:t>Dagster</a:t>
            </a:r>
            <a:endParaRPr lang="en-US" sz="1600" dirty="0"/>
          </a:p>
        </p:txBody>
      </p:sp>
      <p:sp>
        <p:nvSpPr>
          <p:cNvPr id="21" name="Text 15"/>
          <p:cNvSpPr txBox="1"/>
          <p:nvPr/>
        </p:nvSpPr>
        <p:spPr>
          <a:xfrm>
            <a:off x="3977640" y="3429000"/>
            <a:ext cx="1188720" cy="731520"/>
          </a:xfrm>
          <a:prstGeom prst="rect">
            <a:avLst/>
          </a:prstGeom>
          <a:noFill/>
          <a:ln/>
        </p:spPr>
        <p:txBody>
          <a:bodyPr wrap="square" lIns="0" tIns="0" rIns="0" bIns="0" rtlCol="0" anchor="t"/>
          <a:lstStyle/>
          <a:p>
            <a:pPr marL="0" indent="0">
              <a:buNone/>
            </a:pPr>
            <a:r>
              <a:rPr lang="en-US" sz="1400" dirty="0">
                <a:solidFill>
                  <a:schemeClr val="tx1"/>
                </a:solidFill>
              </a:rPr>
              <a:t>Contrôles qualité et rejets</a:t>
            </a:r>
            <a:endParaRPr lang="en-US" sz="1400" dirty="0"/>
          </a:p>
        </p:txBody>
      </p:sp>
      <p:sp>
        <p:nvSpPr>
          <p:cNvPr id="22" name="Rôle 4"/>
          <p:cNvSpPr/>
          <p:nvPr/>
        </p:nvSpPr>
        <p:spPr>
          <a:xfrm>
            <a:off x="5486400" y="1371600"/>
            <a:ext cx="1463040" cy="2834640"/>
          </a:xfrm>
          <a:prstGeom prst="roundRect">
            <a:avLst>
              <a:gd name="adj" fmla="val 6250"/>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23" name="Pastille FaUsers"/>
          <p:cNvSpPr/>
          <p:nvPr/>
        </p:nvSpPr>
        <p:spPr>
          <a:xfrm>
            <a:off x="5715000" y="1600200"/>
            <a:ext cx="548640" cy="548640"/>
          </a:xfrm>
          <a:prstGeom prst="ellipse">
            <a:avLst/>
          </a:prstGeom>
          <a:solidFill>
            <a:schemeClr val="accent2"/>
          </a:solidFill>
          <a:ln w="12700">
            <a:solidFill>
              <a:schemeClr val="accent2"/>
            </a:solidFill>
            <a:prstDash val="solid"/>
          </a:ln>
        </p:spPr>
      </p:sp>
      <p:pic>
        <p:nvPicPr>
          <p:cNvPr id="24" name="Image 3" descr="Icône FaUsers"/>
          <p:cNvPicPr>
            <a:picLocks noChangeAspect="1"/>
          </p:cNvPicPr>
          <p:nvPr/>
        </p:nvPicPr>
        <p:blipFill>
          <a:blip r:embed="rId3"/>
          <a:stretch>
            <a:fillRect/>
          </a:stretch>
        </p:blipFill>
        <p:spPr>
          <a:xfrm>
            <a:off x="5852160" y="1737360"/>
            <a:ext cx="274320" cy="274320"/>
          </a:xfrm>
          <a:prstGeom prst="rect">
            <a:avLst/>
          </a:prstGeom>
        </p:spPr>
      </p:pic>
      <p:sp>
        <p:nvSpPr>
          <p:cNvPr id="25" name="Text 18"/>
          <p:cNvSpPr txBox="1"/>
          <p:nvPr/>
        </p:nvSpPr>
        <p:spPr>
          <a:xfrm>
            <a:off x="5596128" y="2331720"/>
            <a:ext cx="1280160" cy="274320"/>
          </a:xfrm>
          <a:prstGeom prst="rect">
            <a:avLst/>
          </a:prstGeom>
          <a:noFill/>
          <a:ln/>
        </p:spPr>
        <p:txBody>
          <a:bodyPr wrap="square" lIns="0" tIns="0" rIns="0" bIns="0" rtlCol="0" anchor="t"/>
          <a:lstStyle/>
          <a:p>
            <a:pPr marL="0" indent="0">
              <a:buNone/>
            </a:pPr>
            <a:r>
              <a:rPr lang="en-US" sz="1100" b="1" dirty="0">
                <a:solidFill>
                  <a:schemeClr val="tx1"/>
                </a:solidFill>
              </a:rPr>
              <a:t>SIMPORE Carine</a:t>
            </a:r>
            <a:endParaRPr lang="en-US" sz="1200" dirty="0"/>
          </a:p>
        </p:txBody>
      </p:sp>
      <p:sp>
        <p:nvSpPr>
          <p:cNvPr id="26" name="Text 19"/>
          <p:cNvSpPr txBox="1"/>
          <p:nvPr/>
        </p:nvSpPr>
        <p:spPr>
          <a:xfrm>
            <a:off x="5623560" y="2651760"/>
            <a:ext cx="1188720" cy="731520"/>
          </a:xfrm>
          <a:prstGeom prst="rect">
            <a:avLst/>
          </a:prstGeom>
          <a:noFill/>
          <a:ln/>
        </p:spPr>
        <p:txBody>
          <a:bodyPr wrap="square" lIns="0" tIns="0" rIns="0" bIns="0" rtlCol="0" anchor="t"/>
          <a:lstStyle/>
          <a:p>
            <a:pPr marL="0" indent="0">
              <a:buNone/>
            </a:pPr>
            <a:r>
              <a:rPr lang="en-US" sz="1600" b="1" dirty="0">
                <a:solidFill>
                  <a:schemeClr val="tx2"/>
                </a:solidFill>
              </a:rPr>
              <a:t>API FastAPI</a:t>
            </a:r>
            <a:endParaRPr lang="en-US" sz="1600" dirty="0"/>
          </a:p>
        </p:txBody>
      </p:sp>
      <p:sp>
        <p:nvSpPr>
          <p:cNvPr id="27" name="Text 20"/>
          <p:cNvSpPr txBox="1"/>
          <p:nvPr/>
        </p:nvSpPr>
        <p:spPr>
          <a:xfrm>
            <a:off x="5623560" y="3429000"/>
            <a:ext cx="1188720" cy="731520"/>
          </a:xfrm>
          <a:prstGeom prst="rect">
            <a:avLst/>
          </a:prstGeom>
          <a:noFill/>
          <a:ln/>
        </p:spPr>
        <p:txBody>
          <a:bodyPr wrap="square" lIns="0" tIns="0" rIns="0" bIns="0" rtlCol="0" anchor="t"/>
          <a:lstStyle/>
          <a:p>
            <a:pPr marL="0" indent="0">
              <a:buNone/>
            </a:pPr>
            <a:r>
              <a:rPr lang="en-US" sz="1400" dirty="0">
                <a:solidFill>
                  <a:schemeClr val="tx1"/>
                </a:solidFill>
              </a:rPr>
              <a:t>Indicateurs et Swagger</a:t>
            </a:r>
            <a:endParaRPr lang="en-US" sz="1400" dirty="0"/>
          </a:p>
        </p:txBody>
      </p:sp>
      <p:sp>
        <p:nvSpPr>
          <p:cNvPr id="28" name="Rôle 5"/>
          <p:cNvSpPr/>
          <p:nvPr/>
        </p:nvSpPr>
        <p:spPr>
          <a:xfrm>
            <a:off x="7132320" y="1371600"/>
            <a:ext cx="1463040" cy="2834640"/>
          </a:xfrm>
          <a:prstGeom prst="roundRect">
            <a:avLst>
              <a:gd name="adj" fmla="val 6250"/>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29" name="Pastille FaUsers"/>
          <p:cNvSpPr/>
          <p:nvPr/>
        </p:nvSpPr>
        <p:spPr>
          <a:xfrm>
            <a:off x="7360920" y="1600200"/>
            <a:ext cx="548640" cy="548640"/>
          </a:xfrm>
          <a:prstGeom prst="ellipse">
            <a:avLst/>
          </a:prstGeom>
          <a:solidFill>
            <a:schemeClr val="accent1"/>
          </a:solidFill>
          <a:ln w="12700">
            <a:solidFill>
              <a:schemeClr val="accent1"/>
            </a:solidFill>
            <a:prstDash val="solid"/>
          </a:ln>
        </p:spPr>
      </p:sp>
      <p:pic>
        <p:nvPicPr>
          <p:cNvPr id="30" name="Image 4" descr="Icône FaUsers"/>
          <p:cNvPicPr>
            <a:picLocks noChangeAspect="1"/>
          </p:cNvPicPr>
          <p:nvPr/>
        </p:nvPicPr>
        <p:blipFill>
          <a:blip r:embed="rId3"/>
          <a:stretch>
            <a:fillRect/>
          </a:stretch>
        </p:blipFill>
        <p:spPr>
          <a:xfrm>
            <a:off x="7498080" y="1737360"/>
            <a:ext cx="274320" cy="274320"/>
          </a:xfrm>
          <a:prstGeom prst="rect">
            <a:avLst/>
          </a:prstGeom>
        </p:spPr>
      </p:pic>
      <p:sp>
        <p:nvSpPr>
          <p:cNvPr id="31" name="Text 23"/>
          <p:cNvSpPr txBox="1"/>
          <p:nvPr/>
        </p:nvSpPr>
        <p:spPr>
          <a:xfrm>
            <a:off x="7242048" y="2331720"/>
            <a:ext cx="1280160" cy="274320"/>
          </a:xfrm>
          <a:prstGeom prst="rect">
            <a:avLst/>
          </a:prstGeom>
          <a:noFill/>
          <a:ln/>
        </p:spPr>
        <p:txBody>
          <a:bodyPr wrap="square" lIns="0" tIns="0" rIns="0" bIns="0" rtlCol="0" anchor="t"/>
          <a:lstStyle/>
          <a:p>
            <a:pPr marL="0" indent="0">
              <a:buNone/>
            </a:pPr>
            <a:r>
              <a:rPr lang="en-US" sz="1100" b="1" dirty="0"/>
              <a:t>SAOURA Audrey</a:t>
            </a:r>
          </a:p>
        </p:txBody>
      </p:sp>
      <p:sp>
        <p:nvSpPr>
          <p:cNvPr id="32" name="Text 24"/>
          <p:cNvSpPr txBox="1"/>
          <p:nvPr/>
        </p:nvSpPr>
        <p:spPr>
          <a:xfrm>
            <a:off x="7269480" y="2651760"/>
            <a:ext cx="1188720" cy="731520"/>
          </a:xfrm>
          <a:prstGeom prst="rect">
            <a:avLst/>
          </a:prstGeom>
          <a:noFill/>
          <a:ln/>
        </p:spPr>
        <p:txBody>
          <a:bodyPr wrap="square" lIns="0" tIns="0" rIns="0" bIns="0" rtlCol="0" anchor="t"/>
          <a:lstStyle/>
          <a:p>
            <a:pPr marL="0" indent="0">
              <a:buNone/>
            </a:pPr>
            <a:r>
              <a:rPr lang="en-US" sz="1600" b="1" dirty="0">
                <a:solidFill>
                  <a:schemeClr val="tx2"/>
                </a:solidFill>
              </a:rPr>
              <a:t>DevOps et tests</a:t>
            </a:r>
            <a:endParaRPr lang="en-US" sz="1600" dirty="0"/>
          </a:p>
        </p:txBody>
      </p:sp>
      <p:sp>
        <p:nvSpPr>
          <p:cNvPr id="33" name="Text 25"/>
          <p:cNvSpPr txBox="1"/>
          <p:nvPr/>
        </p:nvSpPr>
        <p:spPr>
          <a:xfrm>
            <a:off x="7269480" y="3429000"/>
            <a:ext cx="1188720" cy="731520"/>
          </a:xfrm>
          <a:prstGeom prst="rect">
            <a:avLst/>
          </a:prstGeom>
          <a:noFill/>
          <a:ln/>
        </p:spPr>
        <p:txBody>
          <a:bodyPr wrap="square" lIns="0" tIns="0" rIns="0" bIns="0" rtlCol="0" anchor="t"/>
          <a:lstStyle/>
          <a:p>
            <a:pPr marL="0" indent="0">
              <a:buNone/>
            </a:pPr>
            <a:r>
              <a:rPr lang="en-US" sz="1400" dirty="0">
                <a:solidFill>
                  <a:schemeClr val="tx1"/>
                </a:solidFill>
              </a:rPr>
              <a:t>Compose, README, scénarios</a:t>
            </a:r>
            <a:endParaRPr lang="en-US" sz="1400" dirty="0"/>
          </a:p>
        </p:txBody>
      </p:sp>
      <p:sp>
        <p:nvSpPr>
          <p:cNvPr id="3"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Des données fictives structurées</a:t>
            </a:r>
            <a:endParaRPr lang="en-US" sz="3400" dirty="0"/>
          </a:p>
        </p:txBody>
      </p:sp>
      <p:sp>
        <p:nvSpPr>
          <p:cNvPr id="4" name="KPI structures sanitaires"/>
          <p:cNvSpPr/>
          <p:nvPr/>
        </p:nvSpPr>
        <p:spPr>
          <a:xfrm>
            <a:off x="548640" y="1325880"/>
            <a:ext cx="2560320" cy="1188720"/>
          </a:xfrm>
          <a:prstGeom prst="roundRect">
            <a:avLst>
              <a:gd name="adj" fmla="val 7692"/>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Text 2"/>
          <p:cNvSpPr txBox="1"/>
          <p:nvPr/>
        </p:nvSpPr>
        <p:spPr>
          <a:xfrm>
            <a:off x="777240" y="1417320"/>
            <a:ext cx="2103120" cy="68580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20</a:t>
            </a:r>
            <a:endParaRPr lang="en-US" sz="3800" dirty="0"/>
          </a:p>
        </p:txBody>
      </p:sp>
      <p:sp>
        <p:nvSpPr>
          <p:cNvPr id="6" name="Text 3"/>
          <p:cNvSpPr txBox="1"/>
          <p:nvPr/>
        </p:nvSpPr>
        <p:spPr>
          <a:xfrm>
            <a:off x="777240" y="2103120"/>
            <a:ext cx="2194560" cy="274320"/>
          </a:xfrm>
          <a:prstGeom prst="rect">
            <a:avLst/>
          </a:prstGeom>
          <a:noFill/>
          <a:ln/>
        </p:spPr>
        <p:txBody>
          <a:bodyPr wrap="square" lIns="0" tIns="0" rIns="0" bIns="0" rtlCol="0" anchor="t"/>
          <a:lstStyle/>
          <a:p>
            <a:pPr marL="0" indent="0">
              <a:buNone/>
            </a:pPr>
            <a:r>
              <a:rPr lang="en-US" sz="1400" dirty="0">
                <a:solidFill>
                  <a:schemeClr val="tx1"/>
                </a:solidFill>
              </a:rPr>
              <a:t>structures sanitaires</a:t>
            </a:r>
            <a:endParaRPr lang="en-US" sz="1400" dirty="0"/>
          </a:p>
        </p:txBody>
      </p:sp>
      <p:sp>
        <p:nvSpPr>
          <p:cNvPr id="7" name="KPI consultations"/>
          <p:cNvSpPr/>
          <p:nvPr/>
        </p:nvSpPr>
        <p:spPr>
          <a:xfrm>
            <a:off x="3291840" y="1325880"/>
            <a:ext cx="2560320" cy="1188720"/>
          </a:xfrm>
          <a:prstGeom prst="roundRect">
            <a:avLst>
              <a:gd name="adj" fmla="val 7692"/>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8" name="Text 5"/>
          <p:cNvSpPr txBox="1"/>
          <p:nvPr/>
        </p:nvSpPr>
        <p:spPr>
          <a:xfrm>
            <a:off x="3520440" y="1417320"/>
            <a:ext cx="2103120" cy="68580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2 000</a:t>
            </a:r>
            <a:endParaRPr lang="en-US" sz="3800" dirty="0"/>
          </a:p>
        </p:txBody>
      </p:sp>
      <p:sp>
        <p:nvSpPr>
          <p:cNvPr id="9" name="Text 6"/>
          <p:cNvSpPr txBox="1"/>
          <p:nvPr/>
        </p:nvSpPr>
        <p:spPr>
          <a:xfrm>
            <a:off x="3520440" y="2103120"/>
            <a:ext cx="2194560" cy="274320"/>
          </a:xfrm>
          <a:prstGeom prst="rect">
            <a:avLst/>
          </a:prstGeom>
          <a:noFill/>
          <a:ln/>
        </p:spPr>
        <p:txBody>
          <a:bodyPr wrap="square" lIns="0" tIns="0" rIns="0" bIns="0" rtlCol="0" anchor="t"/>
          <a:lstStyle/>
          <a:p>
            <a:pPr marL="0" indent="0">
              <a:buNone/>
            </a:pPr>
            <a:r>
              <a:rPr lang="en-US" sz="1400" dirty="0">
                <a:solidFill>
                  <a:schemeClr val="tx1"/>
                </a:solidFill>
              </a:rPr>
              <a:t>consultations</a:t>
            </a:r>
            <a:endParaRPr lang="en-US" sz="1400" dirty="0"/>
          </a:p>
        </p:txBody>
      </p:sp>
      <p:sp>
        <p:nvSpPr>
          <p:cNvPr id="10" name="KPI prestations par consultation"/>
          <p:cNvSpPr/>
          <p:nvPr/>
        </p:nvSpPr>
        <p:spPr>
          <a:xfrm>
            <a:off x="6035040" y="1325880"/>
            <a:ext cx="2560320" cy="1188720"/>
          </a:xfrm>
          <a:prstGeom prst="roundRect">
            <a:avLst>
              <a:gd name="adj" fmla="val 7692"/>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1" name="Text 8"/>
          <p:cNvSpPr txBox="1"/>
          <p:nvPr/>
        </p:nvSpPr>
        <p:spPr>
          <a:xfrm>
            <a:off x="6263640" y="1417320"/>
            <a:ext cx="2103120" cy="68580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1 à 3</a:t>
            </a:r>
            <a:endParaRPr lang="en-US" sz="3800" dirty="0"/>
          </a:p>
        </p:txBody>
      </p:sp>
      <p:sp>
        <p:nvSpPr>
          <p:cNvPr id="12" name="Text 9"/>
          <p:cNvSpPr txBox="1"/>
          <p:nvPr/>
        </p:nvSpPr>
        <p:spPr>
          <a:xfrm>
            <a:off x="6263640" y="2103120"/>
            <a:ext cx="2194560" cy="274320"/>
          </a:xfrm>
          <a:prstGeom prst="rect">
            <a:avLst/>
          </a:prstGeom>
          <a:noFill/>
          <a:ln/>
        </p:spPr>
        <p:txBody>
          <a:bodyPr wrap="square" lIns="0" tIns="0" rIns="0" bIns="0" rtlCol="0" anchor="t"/>
          <a:lstStyle/>
          <a:p>
            <a:pPr marL="0" indent="0">
              <a:buNone/>
            </a:pPr>
            <a:r>
              <a:rPr lang="en-US" sz="1400" dirty="0">
                <a:solidFill>
                  <a:schemeClr val="tx1"/>
                </a:solidFill>
              </a:rPr>
              <a:t>prestations par consultation</a:t>
            </a:r>
            <a:endParaRPr lang="en-US" sz="1400" dirty="0"/>
          </a:p>
        </p:txBody>
      </p:sp>
      <p:sp>
        <p:nvSpPr>
          <p:cNvPr id="13" name="Dictionnaire"/>
          <p:cNvSpPr/>
          <p:nvPr/>
        </p:nvSpPr>
        <p:spPr>
          <a:xfrm>
            <a:off x="6126480" y="2697480"/>
            <a:ext cx="2468880" cy="1828800"/>
          </a:xfrm>
          <a:prstGeom prst="roundRect">
            <a:avLst>
              <a:gd name="adj" fmla="val 5000"/>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4" name="Text 11"/>
          <p:cNvSpPr txBox="1"/>
          <p:nvPr/>
        </p:nvSpPr>
        <p:spPr>
          <a:xfrm>
            <a:off x="6309360" y="2788920"/>
            <a:ext cx="2194560" cy="274320"/>
          </a:xfrm>
          <a:prstGeom prst="rect">
            <a:avLst/>
          </a:prstGeom>
          <a:noFill/>
          <a:ln/>
        </p:spPr>
        <p:txBody>
          <a:bodyPr wrap="square" lIns="0" tIns="0" rIns="0" bIns="0" rtlCol="0" anchor="t"/>
          <a:lstStyle/>
          <a:p>
            <a:pPr marL="0" indent="0">
              <a:buNone/>
            </a:pPr>
            <a:r>
              <a:rPr lang="en-US" sz="1600" b="1" dirty="0">
                <a:solidFill>
                  <a:schemeClr val="tx2"/>
                </a:solidFill>
              </a:rPr>
              <a:t>Dictionnaire commun</a:t>
            </a:r>
            <a:endParaRPr lang="en-US" sz="1600" dirty="0"/>
          </a:p>
        </p:txBody>
      </p:sp>
      <p:sp>
        <p:nvSpPr>
          <p:cNvPr id="15" name="Text 12"/>
          <p:cNvSpPr txBox="1"/>
          <p:nvPr/>
        </p:nvSpPr>
        <p:spPr>
          <a:xfrm>
            <a:off x="6309360" y="3127248"/>
            <a:ext cx="2194560" cy="237744"/>
          </a:xfrm>
          <a:prstGeom prst="rect">
            <a:avLst/>
          </a:prstGeom>
          <a:noFill/>
          <a:ln/>
        </p:spPr>
        <p:txBody>
          <a:bodyPr wrap="square" lIns="0" tIns="0" rIns="0" bIns="0" rtlCol="0" anchor="t"/>
          <a:lstStyle/>
          <a:p>
            <a:pPr marL="0" indent="0">
              <a:buNone/>
            </a:pPr>
            <a:r>
              <a:rPr lang="en-US" sz="1300" dirty="0">
                <a:solidFill>
                  <a:schemeClr val="tx1"/>
                </a:solidFill>
              </a:rPr>
              <a:t>structures_sanitaires</a:t>
            </a:r>
            <a:endParaRPr lang="en-US" sz="1400" dirty="0"/>
          </a:p>
        </p:txBody>
      </p:sp>
      <p:sp>
        <p:nvSpPr>
          <p:cNvPr id="16" name="Text 13"/>
          <p:cNvSpPr txBox="1"/>
          <p:nvPr/>
        </p:nvSpPr>
        <p:spPr>
          <a:xfrm>
            <a:off x="6309360" y="3328416"/>
            <a:ext cx="2194560" cy="237744"/>
          </a:xfrm>
          <a:prstGeom prst="rect">
            <a:avLst/>
          </a:prstGeom>
          <a:noFill/>
          <a:ln/>
        </p:spPr>
        <p:txBody>
          <a:bodyPr wrap="square" lIns="0" tIns="0" rIns="0" bIns="0" rtlCol="0" anchor="t"/>
          <a:lstStyle/>
          <a:p>
            <a:pPr marL="0" indent="0">
              <a:buNone/>
            </a:pPr>
            <a:r>
              <a:rPr lang="en-US" sz="1200" dirty="0">
                <a:solidFill>
                  <a:schemeClr val="tx2"/>
                </a:solidFill>
                <a:latin typeface="Courier New" pitchFamily="34" charset="0"/>
                <a:ea typeface="Courier New" pitchFamily="34" charset="-122"/>
                <a:cs typeface="Courier New" pitchFamily="34" charset="-120"/>
              </a:rPr>
              <a:t>STR-0000</a:t>
            </a:r>
            <a:endParaRPr lang="en-US" sz="1300" dirty="0"/>
          </a:p>
        </p:txBody>
      </p:sp>
      <p:sp>
        <p:nvSpPr>
          <p:cNvPr id="17" name="Text 14"/>
          <p:cNvSpPr txBox="1"/>
          <p:nvPr/>
        </p:nvSpPr>
        <p:spPr>
          <a:xfrm>
            <a:off x="6309360" y="3557015"/>
            <a:ext cx="2194560" cy="237744"/>
          </a:xfrm>
          <a:prstGeom prst="rect">
            <a:avLst/>
          </a:prstGeom>
          <a:noFill/>
          <a:ln/>
        </p:spPr>
        <p:txBody>
          <a:bodyPr wrap="square" lIns="0" tIns="0" rIns="0" bIns="0" rtlCol="0" anchor="t"/>
          <a:lstStyle/>
          <a:p>
            <a:pPr marL="0" indent="0">
              <a:buNone/>
            </a:pPr>
            <a:r>
              <a:rPr lang="en-US" sz="1300" dirty="0">
                <a:solidFill>
                  <a:schemeClr val="tx1"/>
                </a:solidFill>
              </a:rPr>
              <a:t>consultations</a:t>
            </a:r>
            <a:endParaRPr lang="en-US" sz="1400" dirty="0"/>
          </a:p>
        </p:txBody>
      </p:sp>
      <p:sp>
        <p:nvSpPr>
          <p:cNvPr id="18" name="Text 15"/>
          <p:cNvSpPr txBox="1"/>
          <p:nvPr/>
        </p:nvSpPr>
        <p:spPr>
          <a:xfrm>
            <a:off x="6309360" y="3758183"/>
            <a:ext cx="2194560" cy="237744"/>
          </a:xfrm>
          <a:prstGeom prst="rect">
            <a:avLst/>
          </a:prstGeom>
          <a:noFill/>
          <a:ln/>
        </p:spPr>
        <p:txBody>
          <a:bodyPr wrap="square" lIns="0" tIns="0" rIns="0" bIns="0" rtlCol="0" anchor="t"/>
          <a:lstStyle/>
          <a:p>
            <a:pPr marL="0" indent="0">
              <a:buNone/>
            </a:pPr>
            <a:r>
              <a:rPr lang="en-US" sz="1200" dirty="0">
                <a:solidFill>
                  <a:schemeClr val="tx2"/>
                </a:solidFill>
                <a:latin typeface="Courier New" pitchFamily="34" charset="0"/>
                <a:ea typeface="Courier New" pitchFamily="34" charset="-122"/>
                <a:cs typeface="Courier New" pitchFamily="34" charset="-120"/>
              </a:rPr>
              <a:t>CSL-000000</a:t>
            </a:r>
            <a:endParaRPr lang="en-US" sz="1300" dirty="0"/>
          </a:p>
        </p:txBody>
      </p:sp>
      <p:sp>
        <p:nvSpPr>
          <p:cNvPr id="19" name="Text 16"/>
          <p:cNvSpPr txBox="1"/>
          <p:nvPr/>
        </p:nvSpPr>
        <p:spPr>
          <a:xfrm>
            <a:off x="6309360" y="3986783"/>
            <a:ext cx="2194560" cy="237744"/>
          </a:xfrm>
          <a:prstGeom prst="rect">
            <a:avLst/>
          </a:prstGeom>
          <a:noFill/>
          <a:ln/>
        </p:spPr>
        <p:txBody>
          <a:bodyPr wrap="square" lIns="0" tIns="0" rIns="0" bIns="0" rtlCol="0" anchor="t"/>
          <a:lstStyle/>
          <a:p>
            <a:pPr marL="0" indent="0">
              <a:buNone/>
            </a:pPr>
            <a:r>
              <a:rPr lang="en-US" sz="1300" dirty="0">
                <a:solidFill>
                  <a:schemeClr val="tx1"/>
                </a:solidFill>
              </a:rPr>
              <a:t>prestations</a:t>
            </a:r>
            <a:endParaRPr lang="en-US" sz="1400" dirty="0"/>
          </a:p>
        </p:txBody>
      </p:sp>
      <p:sp>
        <p:nvSpPr>
          <p:cNvPr id="20" name="Text 17"/>
          <p:cNvSpPr txBox="1"/>
          <p:nvPr/>
        </p:nvSpPr>
        <p:spPr>
          <a:xfrm>
            <a:off x="6309360" y="4187951"/>
            <a:ext cx="2194560" cy="237744"/>
          </a:xfrm>
          <a:prstGeom prst="rect">
            <a:avLst/>
          </a:prstGeom>
          <a:noFill/>
          <a:ln/>
        </p:spPr>
        <p:txBody>
          <a:bodyPr wrap="square" lIns="0" tIns="0" rIns="0" bIns="0" rtlCol="0" anchor="t"/>
          <a:lstStyle/>
          <a:p>
            <a:pPr marL="0" indent="0">
              <a:buNone/>
            </a:pPr>
            <a:r>
              <a:rPr lang="en-US" sz="1200" dirty="0">
                <a:solidFill>
                  <a:schemeClr val="tx2"/>
                </a:solidFill>
                <a:latin typeface="Courier New" pitchFamily="34" charset="0"/>
                <a:ea typeface="Courier New" pitchFamily="34" charset="-122"/>
                <a:cs typeface="Courier New" pitchFamily="34" charset="-120"/>
              </a:rPr>
              <a:t>PRS-000000</a:t>
            </a:r>
            <a:endParaRPr lang="en-US" sz="1300" dirty="0"/>
          </a:p>
        </p:txBody>
      </p:sp>
      <p:sp>
        <p:nvSpPr>
          <p:cNvPr id="21" name="Cadre 02"/>
          <p:cNvSpPr/>
          <p:nvPr/>
        </p:nvSpPr>
        <p:spPr>
          <a:xfrm>
            <a:off x="548640" y="2697480"/>
            <a:ext cx="5394960" cy="1828800"/>
          </a:xfrm>
          <a:prstGeom prst="roundRect">
            <a:avLst>
              <a:gd name="adj" fmla="val 5000"/>
            </a:avLst>
          </a:prstGeom>
          <a:solidFill>
            <a:schemeClr val="bg2"/>
          </a:solidFill>
          <a:ln w="12700">
            <a:solidFill>
              <a:schemeClr val="accent5"/>
            </a:solidFill>
            <a:prstDash val="solid"/>
          </a:ln>
        </p:spPr>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5</a:t>
            </a:fld>
            <a:endParaRPr lang="en-US"/>
          </a:p>
        </p:txBody>
      </p:sp>
      <p:pic>
        <p:nvPicPr>
          <p:cNvPr id="26" name="Capture 02" descr="Terminal : liste des 3 tables de la base source et comptages 20, 2000, 4031"/>
          <p:cNvPicPr>
            <a:picLocks noChangeAspect="1"/>
          </p:cNvPicPr>
          <p:nvPr/>
        </p:nvPicPr>
        <p:blipFill>
          <a:blip r:embed="rId3"/>
          <a:stretch>
            <a:fillRect/>
          </a:stretch>
        </p:blipFill>
        <p:spPr>
          <a:xfrm>
            <a:off x="691994" y="2779776"/>
            <a:ext cx="5108251" cy="1664208"/>
          </a:xfrm>
          <a:prstGeom prst="rect">
            <a:avLst/>
          </a:prstGeom>
          <a:ln w="9525">
            <a:solidFill>
              <a:schemeClr val="accent5"/>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Airbyte copie les trois tables</a:t>
            </a:r>
            <a:endParaRPr lang="en-US" sz="3400" dirty="0"/>
          </a:p>
        </p:txBody>
      </p:sp>
      <p:sp>
        <p:nvSpPr>
          <p:cNvPr id="4" name="Étape Airbyte 1"/>
          <p:cNvSpPr/>
          <p:nvPr/>
        </p:nvSpPr>
        <p:spPr>
          <a:xfrm>
            <a:off x="548640" y="1325880"/>
            <a:ext cx="2560320" cy="960120"/>
          </a:xfrm>
          <a:prstGeom prst="roundRect">
            <a:avLst>
              <a:gd name="adj" fmla="val 9524"/>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Numéro 1"/>
          <p:cNvSpPr txBox="1"/>
          <p:nvPr/>
        </p:nvSpPr>
        <p:spPr>
          <a:xfrm>
            <a:off x="685800" y="1572768"/>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3"/>
          <p:cNvSpPr txBox="1"/>
          <p:nvPr/>
        </p:nvSpPr>
        <p:spPr>
          <a:xfrm>
            <a:off x="1280160" y="1444752"/>
            <a:ext cx="1783080" cy="274320"/>
          </a:xfrm>
          <a:prstGeom prst="rect">
            <a:avLst/>
          </a:prstGeom>
          <a:noFill/>
          <a:ln/>
        </p:spPr>
        <p:txBody>
          <a:bodyPr wrap="square" lIns="0" tIns="0" rIns="0" bIns="0" rtlCol="0" anchor="t"/>
          <a:lstStyle/>
          <a:p>
            <a:pPr marL="0" indent="0">
              <a:buNone/>
            </a:pPr>
            <a:r>
              <a:rPr lang="en-US" sz="1400" b="1" dirty="0">
                <a:solidFill>
                  <a:schemeClr val="tx2"/>
                </a:solidFill>
              </a:rPr>
              <a:t>Source PostgreSQL</a:t>
            </a:r>
            <a:endParaRPr lang="en-US" sz="1600" dirty="0"/>
          </a:p>
        </p:txBody>
      </p:sp>
      <p:sp>
        <p:nvSpPr>
          <p:cNvPr id="7" name="Text 4"/>
          <p:cNvSpPr txBox="1"/>
          <p:nvPr/>
        </p:nvSpPr>
        <p:spPr>
          <a:xfrm>
            <a:off x="1280160" y="1755648"/>
            <a:ext cx="1783080" cy="457200"/>
          </a:xfrm>
          <a:prstGeom prst="rect">
            <a:avLst/>
          </a:prstGeom>
          <a:noFill/>
          <a:ln/>
        </p:spPr>
        <p:txBody>
          <a:bodyPr wrap="square" lIns="0" tIns="0" rIns="0" bIns="0" rtlCol="0" anchor="t"/>
          <a:lstStyle/>
          <a:p>
            <a:pPr marL="0" indent="0">
              <a:buNone/>
            </a:pPr>
            <a:r>
              <a:rPr lang="en-US" sz="1100" dirty="0">
                <a:solidFill>
                  <a:schemeClr val="tx1"/>
                </a:solidFill>
              </a:rPr>
              <a:t>Base sourcedb, port 5433</a:t>
            </a:r>
            <a:endParaRPr lang="en-US" sz="1400" dirty="0"/>
          </a:p>
        </p:txBody>
      </p:sp>
      <p:sp>
        <p:nvSpPr>
          <p:cNvPr id="8" name="Étape Airbyte 2"/>
          <p:cNvSpPr/>
          <p:nvPr/>
        </p:nvSpPr>
        <p:spPr>
          <a:xfrm>
            <a:off x="3291840" y="1325880"/>
            <a:ext cx="2560320" cy="960120"/>
          </a:xfrm>
          <a:prstGeom prst="roundRect">
            <a:avLst>
              <a:gd name="adj" fmla="val 9524"/>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9" name="Numéro 2"/>
          <p:cNvSpPr txBox="1"/>
          <p:nvPr/>
        </p:nvSpPr>
        <p:spPr>
          <a:xfrm>
            <a:off x="3429000" y="1572768"/>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Text 7"/>
          <p:cNvSpPr txBox="1"/>
          <p:nvPr/>
        </p:nvSpPr>
        <p:spPr>
          <a:xfrm>
            <a:off x="4023360" y="1444752"/>
            <a:ext cx="1783080" cy="274320"/>
          </a:xfrm>
          <a:prstGeom prst="rect">
            <a:avLst/>
          </a:prstGeom>
          <a:noFill/>
          <a:ln/>
        </p:spPr>
        <p:txBody>
          <a:bodyPr wrap="square" lIns="0" tIns="0" rIns="0" bIns="0" rtlCol="0" anchor="t"/>
          <a:lstStyle/>
          <a:p>
            <a:pPr marL="0" indent="0">
              <a:buNone/>
            </a:pPr>
            <a:r>
              <a:rPr lang="en-US" sz="1400" b="1" dirty="0">
                <a:solidFill>
                  <a:schemeClr val="tx2"/>
                </a:solidFill>
              </a:rPr>
              <a:t>Destination PostgreSQL</a:t>
            </a:r>
            <a:endParaRPr lang="en-US" sz="1600" dirty="0"/>
          </a:p>
        </p:txBody>
      </p:sp>
      <p:sp>
        <p:nvSpPr>
          <p:cNvPr id="11" name="Text 8"/>
          <p:cNvSpPr txBox="1"/>
          <p:nvPr/>
        </p:nvSpPr>
        <p:spPr>
          <a:xfrm>
            <a:off x="4023360" y="1755648"/>
            <a:ext cx="1783080" cy="457200"/>
          </a:xfrm>
          <a:prstGeom prst="rect">
            <a:avLst/>
          </a:prstGeom>
          <a:noFill/>
          <a:ln/>
        </p:spPr>
        <p:txBody>
          <a:bodyPr wrap="square" lIns="0" tIns="0" rIns="0" bIns="0" rtlCol="0" anchor="t"/>
          <a:lstStyle/>
          <a:p>
            <a:pPr marL="0" indent="0">
              <a:buNone/>
            </a:pPr>
            <a:r>
              <a:rPr lang="en-US" sz="1100" dirty="0">
                <a:solidFill>
                  <a:schemeClr val="tx1"/>
                </a:solidFill>
              </a:rPr>
              <a:t>Entrepôt warehouse, schéma raw</a:t>
            </a:r>
            <a:endParaRPr lang="en-US" sz="1400" dirty="0"/>
          </a:p>
        </p:txBody>
      </p:sp>
      <p:sp>
        <p:nvSpPr>
          <p:cNvPr id="12" name="Étape Airbyte 3"/>
          <p:cNvSpPr/>
          <p:nvPr/>
        </p:nvSpPr>
        <p:spPr>
          <a:xfrm>
            <a:off x="6035040" y="1325880"/>
            <a:ext cx="2560320" cy="960120"/>
          </a:xfrm>
          <a:prstGeom prst="roundRect">
            <a:avLst>
              <a:gd name="adj" fmla="val 9524"/>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3" name="Numéro 3"/>
          <p:cNvSpPr txBox="1"/>
          <p:nvPr/>
        </p:nvSpPr>
        <p:spPr>
          <a:xfrm>
            <a:off x="6172200" y="1572768"/>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 11"/>
          <p:cNvSpPr txBox="1"/>
          <p:nvPr/>
        </p:nvSpPr>
        <p:spPr>
          <a:xfrm>
            <a:off x="6766559" y="1444752"/>
            <a:ext cx="1783080" cy="274320"/>
          </a:xfrm>
          <a:prstGeom prst="rect">
            <a:avLst/>
          </a:prstGeom>
          <a:noFill/>
          <a:ln/>
        </p:spPr>
        <p:txBody>
          <a:bodyPr wrap="square" lIns="0" tIns="0" rIns="0" bIns="0" rtlCol="0" anchor="t"/>
          <a:lstStyle/>
          <a:p>
            <a:pPr marL="0" indent="0">
              <a:buNone/>
            </a:pPr>
            <a:r>
              <a:rPr lang="en-US" sz="1400" b="1" dirty="0">
                <a:solidFill>
                  <a:schemeClr val="tx2"/>
                </a:solidFill>
              </a:rPr>
              <a:t>Connexion</a:t>
            </a:r>
            <a:endParaRPr lang="en-US" sz="1600" dirty="0"/>
          </a:p>
        </p:txBody>
      </p:sp>
      <p:sp>
        <p:nvSpPr>
          <p:cNvPr id="15" name="Text 12"/>
          <p:cNvSpPr txBox="1"/>
          <p:nvPr/>
        </p:nvSpPr>
        <p:spPr>
          <a:xfrm>
            <a:off x="6766559" y="1755648"/>
            <a:ext cx="1783080" cy="457200"/>
          </a:xfrm>
          <a:prstGeom prst="rect">
            <a:avLst/>
          </a:prstGeom>
          <a:noFill/>
          <a:ln/>
        </p:spPr>
        <p:txBody>
          <a:bodyPr wrap="square" lIns="0" tIns="0" rIns="0" bIns="0" rtlCol="0" anchor="t"/>
          <a:lstStyle/>
          <a:p>
            <a:pPr marL="0" indent="0">
              <a:buNone/>
            </a:pPr>
            <a:r>
              <a:rPr lang="en-US" sz="1100" dirty="0">
                <a:solidFill>
                  <a:schemeClr val="tx1"/>
                </a:solidFill>
              </a:rPr>
              <a:t>3 tables, Full refresh, Overwrite</a:t>
            </a:r>
            <a:endParaRPr lang="en-US" sz="1400" dirty="0"/>
          </a:p>
        </p:txBody>
      </p:sp>
      <p:sp>
        <p:nvSpPr>
          <p:cNvPr id="16" name="Cadre 07"/>
          <p:cNvSpPr/>
          <p:nvPr/>
        </p:nvSpPr>
        <p:spPr>
          <a:xfrm>
            <a:off x="548640" y="2468880"/>
            <a:ext cx="3931920" cy="2057400"/>
          </a:xfrm>
          <a:prstGeom prst="roundRect">
            <a:avLst>
              <a:gd name="adj" fmla="val 5882"/>
            </a:avLst>
          </a:prstGeom>
          <a:solidFill>
            <a:schemeClr val="bg2"/>
          </a:solidFill>
          <a:ln w="12700">
            <a:solidFill>
              <a:schemeClr val="accent5"/>
            </a:solidFill>
            <a:prstDash val="solid"/>
          </a:ln>
        </p:spPr>
      </p:sp>
      <p:sp>
        <p:nvSpPr>
          <p:cNvPr id="20" name="Cadre 08"/>
          <p:cNvSpPr/>
          <p:nvPr/>
        </p:nvSpPr>
        <p:spPr>
          <a:xfrm>
            <a:off x="4663440" y="2468880"/>
            <a:ext cx="3931920" cy="2057400"/>
          </a:xfrm>
          <a:prstGeom prst="roundRect">
            <a:avLst>
              <a:gd name="adj" fmla="val 6250"/>
            </a:avLst>
          </a:prstGeom>
          <a:solidFill>
            <a:schemeClr val="bg2"/>
          </a:solidFill>
          <a:ln w="12700">
            <a:solidFill>
              <a:schemeClr val="accent5"/>
            </a:solidFill>
            <a:prstDash val="solid"/>
          </a:ln>
        </p:spPr>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6</a:t>
            </a:fld>
            <a:endParaRPr lang="en-US"/>
          </a:p>
        </p:txBody>
      </p:sp>
      <p:pic>
        <p:nvPicPr>
          <p:cNvPr id="26" name="Capture 07" descr="Airbyte : connexion Postgres vers Postgres avant synchronisation"/>
          <p:cNvPicPr>
            <a:picLocks noChangeAspect="1"/>
          </p:cNvPicPr>
          <p:nvPr/>
        </p:nvPicPr>
        <p:blipFill>
          <a:blip r:embed="rId3"/>
          <a:stretch>
            <a:fillRect/>
          </a:stretch>
        </p:blipFill>
        <p:spPr>
          <a:xfrm>
            <a:off x="677314" y="2551176"/>
            <a:ext cx="3674571" cy="1892808"/>
          </a:xfrm>
          <a:prstGeom prst="rect">
            <a:avLst/>
          </a:prstGeom>
          <a:ln w="9525">
            <a:solidFill>
              <a:schemeClr val="accent5"/>
            </a:solidFill>
          </a:ln>
        </p:spPr>
      </p:pic>
      <p:pic>
        <p:nvPicPr>
          <p:cNvPr id="27" name="Capture 08" descr="Airbyte : synchronisation réussie, 2000, 4031 et 20 enregistrements chargés"/>
          <p:cNvPicPr>
            <a:picLocks noChangeAspect="1"/>
          </p:cNvPicPr>
          <p:nvPr/>
        </p:nvPicPr>
        <p:blipFill>
          <a:blip r:embed="rId4"/>
          <a:stretch>
            <a:fillRect/>
          </a:stretch>
        </p:blipFill>
        <p:spPr>
          <a:xfrm>
            <a:off x="4874463" y="2551176"/>
            <a:ext cx="3509873" cy="1892808"/>
          </a:xfrm>
          <a:prstGeom prst="rect">
            <a:avLst/>
          </a:prstGeom>
          <a:ln w="9525">
            <a:solidFill>
              <a:schemeClr val="accent5"/>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Dagster contrôle la qualité</a:t>
            </a:r>
            <a:endParaRPr lang="en-US" sz="3400" dirty="0"/>
          </a:p>
        </p:txBody>
      </p:sp>
      <p:sp>
        <p:nvSpPr>
          <p:cNvPr id="4" name="Contrôle Complétude"/>
          <p:cNvSpPr/>
          <p:nvPr/>
        </p:nvSpPr>
        <p:spPr>
          <a:xfrm>
            <a:off x="548640" y="1371600"/>
            <a:ext cx="2194560" cy="1280160"/>
          </a:xfrm>
          <a:prstGeom prst="roundRect">
            <a:avLst>
              <a:gd name="adj" fmla="val 7143"/>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Pastille FaClipboardCheck"/>
          <p:cNvSpPr/>
          <p:nvPr/>
        </p:nvSpPr>
        <p:spPr>
          <a:xfrm>
            <a:off x="731520" y="1554480"/>
            <a:ext cx="457200" cy="457200"/>
          </a:xfrm>
          <a:prstGeom prst="ellipse">
            <a:avLst/>
          </a:prstGeom>
          <a:solidFill>
            <a:schemeClr val="accent1"/>
          </a:solidFill>
          <a:ln w="12700">
            <a:solidFill>
              <a:schemeClr val="accent1"/>
            </a:solidFill>
            <a:prstDash val="solid"/>
          </a:ln>
        </p:spPr>
      </p:sp>
      <p:pic>
        <p:nvPicPr>
          <p:cNvPr id="6" name="Image 0" descr="Icône FaClipboardCheck"/>
          <p:cNvPicPr>
            <a:picLocks noChangeAspect="1"/>
          </p:cNvPicPr>
          <p:nvPr/>
        </p:nvPicPr>
        <p:blipFill>
          <a:blip r:embed="rId3"/>
          <a:stretch>
            <a:fillRect/>
          </a:stretch>
        </p:blipFill>
        <p:spPr>
          <a:xfrm>
            <a:off x="845820" y="1668780"/>
            <a:ext cx="228600" cy="228600"/>
          </a:xfrm>
          <a:prstGeom prst="rect">
            <a:avLst/>
          </a:prstGeom>
        </p:spPr>
      </p:pic>
      <p:sp>
        <p:nvSpPr>
          <p:cNvPr id="7" name="Text 3"/>
          <p:cNvSpPr txBox="1"/>
          <p:nvPr/>
        </p:nvSpPr>
        <p:spPr>
          <a:xfrm>
            <a:off x="1325880" y="1554480"/>
            <a:ext cx="1325880" cy="502920"/>
          </a:xfrm>
          <a:prstGeom prst="rect">
            <a:avLst/>
          </a:prstGeom>
          <a:noFill/>
          <a:ln/>
        </p:spPr>
        <p:txBody>
          <a:bodyPr wrap="square" lIns="0" tIns="0" rIns="0" bIns="0" rtlCol="0" anchor="t"/>
          <a:lstStyle/>
          <a:p>
            <a:pPr marL="0" indent="0">
              <a:buNone/>
            </a:pPr>
            <a:r>
              <a:rPr lang="en-US" sz="1600" b="1" dirty="0">
                <a:solidFill>
                  <a:schemeClr val="tx2"/>
                </a:solidFill>
              </a:rPr>
              <a:t>Complétude</a:t>
            </a:r>
            <a:endParaRPr lang="en-US" sz="1600" dirty="0"/>
          </a:p>
        </p:txBody>
      </p:sp>
      <p:sp>
        <p:nvSpPr>
          <p:cNvPr id="8" name="Text 4"/>
          <p:cNvSpPr txBox="1"/>
          <p:nvPr/>
        </p:nvSpPr>
        <p:spPr>
          <a:xfrm>
            <a:off x="731520" y="2148840"/>
            <a:ext cx="1920240" cy="365760"/>
          </a:xfrm>
          <a:prstGeom prst="rect">
            <a:avLst/>
          </a:prstGeom>
          <a:noFill/>
          <a:ln/>
        </p:spPr>
        <p:txBody>
          <a:bodyPr wrap="square" lIns="0" tIns="0" rIns="0" bIns="0" rtlCol="0" anchor="t"/>
          <a:lstStyle/>
          <a:p>
            <a:pPr marL="0" indent="0">
              <a:buNone/>
            </a:pPr>
            <a:r>
              <a:rPr lang="en-US" sz="1400" dirty="0">
                <a:solidFill>
                  <a:schemeClr val="tx1"/>
                </a:solidFill>
              </a:rPr>
              <a:t>Aucun champ vide</a:t>
            </a:r>
            <a:endParaRPr lang="en-US" sz="1400" dirty="0"/>
          </a:p>
        </p:txBody>
      </p:sp>
      <p:sp>
        <p:nvSpPr>
          <p:cNvPr id="9" name="Contrôle Unicité"/>
          <p:cNvSpPr/>
          <p:nvPr/>
        </p:nvSpPr>
        <p:spPr>
          <a:xfrm>
            <a:off x="2926080" y="1371600"/>
            <a:ext cx="2194560" cy="1280160"/>
          </a:xfrm>
          <a:prstGeom prst="roundRect">
            <a:avLst>
              <a:gd name="adj" fmla="val 7143"/>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0" name="Pastille FaCheckCircle"/>
          <p:cNvSpPr/>
          <p:nvPr/>
        </p:nvSpPr>
        <p:spPr>
          <a:xfrm>
            <a:off x="3108960" y="1554480"/>
            <a:ext cx="457200" cy="457200"/>
          </a:xfrm>
          <a:prstGeom prst="ellipse">
            <a:avLst/>
          </a:prstGeom>
          <a:solidFill>
            <a:schemeClr val="accent2"/>
          </a:solidFill>
          <a:ln w="12700">
            <a:solidFill>
              <a:schemeClr val="accent2"/>
            </a:solidFill>
            <a:prstDash val="solid"/>
          </a:ln>
        </p:spPr>
      </p:sp>
      <p:pic>
        <p:nvPicPr>
          <p:cNvPr id="11" name="Image 1" descr="Icône FaCheckCircle"/>
          <p:cNvPicPr>
            <a:picLocks noChangeAspect="1"/>
          </p:cNvPicPr>
          <p:nvPr/>
        </p:nvPicPr>
        <p:blipFill>
          <a:blip r:embed="rId4"/>
          <a:stretch>
            <a:fillRect/>
          </a:stretch>
        </p:blipFill>
        <p:spPr>
          <a:xfrm>
            <a:off x="3223260" y="1668780"/>
            <a:ext cx="228600" cy="228600"/>
          </a:xfrm>
          <a:prstGeom prst="rect">
            <a:avLst/>
          </a:prstGeom>
        </p:spPr>
      </p:pic>
      <p:sp>
        <p:nvSpPr>
          <p:cNvPr id="12" name="Text 7"/>
          <p:cNvSpPr txBox="1"/>
          <p:nvPr/>
        </p:nvSpPr>
        <p:spPr>
          <a:xfrm>
            <a:off x="3703320" y="1554480"/>
            <a:ext cx="1325880" cy="502920"/>
          </a:xfrm>
          <a:prstGeom prst="rect">
            <a:avLst/>
          </a:prstGeom>
          <a:noFill/>
          <a:ln/>
        </p:spPr>
        <p:txBody>
          <a:bodyPr wrap="square" lIns="0" tIns="0" rIns="0" bIns="0" rtlCol="0" anchor="t"/>
          <a:lstStyle/>
          <a:p>
            <a:pPr marL="0" indent="0">
              <a:buNone/>
            </a:pPr>
            <a:r>
              <a:rPr lang="en-US" sz="1600" b="1" dirty="0">
                <a:solidFill>
                  <a:schemeClr val="tx2"/>
                </a:solidFill>
              </a:rPr>
              <a:t>Unicité</a:t>
            </a:r>
            <a:endParaRPr lang="en-US" sz="1600" dirty="0"/>
          </a:p>
        </p:txBody>
      </p:sp>
      <p:sp>
        <p:nvSpPr>
          <p:cNvPr id="13" name="Text 8"/>
          <p:cNvSpPr txBox="1"/>
          <p:nvPr/>
        </p:nvSpPr>
        <p:spPr>
          <a:xfrm>
            <a:off x="3108960" y="2148840"/>
            <a:ext cx="1920240" cy="365760"/>
          </a:xfrm>
          <a:prstGeom prst="rect">
            <a:avLst/>
          </a:prstGeom>
          <a:noFill/>
          <a:ln/>
        </p:spPr>
        <p:txBody>
          <a:bodyPr wrap="square" lIns="0" tIns="0" rIns="0" bIns="0" rtlCol="0" anchor="t"/>
          <a:lstStyle/>
          <a:p>
            <a:pPr marL="0" indent="0">
              <a:buNone/>
            </a:pPr>
            <a:r>
              <a:rPr lang="en-US" sz="1400" dirty="0">
                <a:solidFill>
                  <a:schemeClr val="tx1"/>
                </a:solidFill>
              </a:rPr>
              <a:t>Pas de doublon</a:t>
            </a:r>
            <a:endParaRPr lang="en-US" sz="1400" dirty="0"/>
          </a:p>
        </p:txBody>
      </p:sp>
      <p:sp>
        <p:nvSpPr>
          <p:cNvPr id="14" name="Contrôle Dates cohérentes"/>
          <p:cNvSpPr/>
          <p:nvPr/>
        </p:nvSpPr>
        <p:spPr>
          <a:xfrm>
            <a:off x="548640" y="2834640"/>
            <a:ext cx="2194560" cy="1280160"/>
          </a:xfrm>
          <a:prstGeom prst="roundRect">
            <a:avLst>
              <a:gd name="adj" fmla="val 7143"/>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5" name="Pastille FaFileAlt"/>
          <p:cNvSpPr/>
          <p:nvPr/>
        </p:nvSpPr>
        <p:spPr>
          <a:xfrm>
            <a:off x="731520" y="3017520"/>
            <a:ext cx="457200" cy="457200"/>
          </a:xfrm>
          <a:prstGeom prst="ellipse">
            <a:avLst/>
          </a:prstGeom>
          <a:solidFill>
            <a:schemeClr val="accent2"/>
          </a:solidFill>
          <a:ln w="12700">
            <a:solidFill>
              <a:schemeClr val="accent2"/>
            </a:solidFill>
            <a:prstDash val="solid"/>
          </a:ln>
        </p:spPr>
      </p:sp>
      <p:pic>
        <p:nvPicPr>
          <p:cNvPr id="16" name="Image 2" descr="Icône FaFileAlt"/>
          <p:cNvPicPr>
            <a:picLocks noChangeAspect="1"/>
          </p:cNvPicPr>
          <p:nvPr/>
        </p:nvPicPr>
        <p:blipFill>
          <a:blip r:embed="rId5"/>
          <a:stretch>
            <a:fillRect/>
          </a:stretch>
        </p:blipFill>
        <p:spPr>
          <a:xfrm>
            <a:off x="845820" y="3131820"/>
            <a:ext cx="228600" cy="228600"/>
          </a:xfrm>
          <a:prstGeom prst="rect">
            <a:avLst/>
          </a:prstGeom>
        </p:spPr>
      </p:pic>
      <p:sp>
        <p:nvSpPr>
          <p:cNvPr id="17" name="Text 11"/>
          <p:cNvSpPr txBox="1"/>
          <p:nvPr/>
        </p:nvSpPr>
        <p:spPr>
          <a:xfrm>
            <a:off x="1325880" y="3017520"/>
            <a:ext cx="1325880" cy="502920"/>
          </a:xfrm>
          <a:prstGeom prst="rect">
            <a:avLst/>
          </a:prstGeom>
          <a:noFill/>
          <a:ln/>
        </p:spPr>
        <p:txBody>
          <a:bodyPr wrap="square" lIns="0" tIns="0" rIns="0" bIns="0" rtlCol="0" anchor="t"/>
          <a:lstStyle/>
          <a:p>
            <a:pPr marL="0" indent="0">
              <a:buNone/>
            </a:pPr>
            <a:r>
              <a:rPr lang="en-US" sz="1600" b="1" dirty="0">
                <a:solidFill>
                  <a:schemeClr val="tx2"/>
                </a:solidFill>
              </a:rPr>
              <a:t>Dates cohérentes</a:t>
            </a:r>
            <a:endParaRPr lang="en-US" sz="1600" dirty="0"/>
          </a:p>
        </p:txBody>
      </p:sp>
      <p:sp>
        <p:nvSpPr>
          <p:cNvPr id="18" name="Text 12"/>
          <p:cNvSpPr txBox="1"/>
          <p:nvPr/>
        </p:nvSpPr>
        <p:spPr>
          <a:xfrm>
            <a:off x="731520" y="3611880"/>
            <a:ext cx="1920240" cy="365760"/>
          </a:xfrm>
          <a:prstGeom prst="rect">
            <a:avLst/>
          </a:prstGeom>
          <a:noFill/>
          <a:ln/>
        </p:spPr>
        <p:txBody>
          <a:bodyPr wrap="square" lIns="0" tIns="0" rIns="0" bIns="0" rtlCol="0" anchor="t"/>
          <a:lstStyle/>
          <a:p>
            <a:pPr marL="0" indent="0">
              <a:buNone/>
            </a:pPr>
            <a:r>
              <a:rPr lang="en-US" sz="1400" dirty="0">
                <a:solidFill>
                  <a:schemeClr val="tx1"/>
                </a:solidFill>
              </a:rPr>
              <a:t>Ni futur, ni avant 2000</a:t>
            </a:r>
            <a:endParaRPr lang="en-US" sz="1400" dirty="0"/>
          </a:p>
        </p:txBody>
      </p:sp>
      <p:sp>
        <p:nvSpPr>
          <p:cNvPr id="19" name="Contrôle Identifiants valides"/>
          <p:cNvSpPr/>
          <p:nvPr/>
        </p:nvSpPr>
        <p:spPr>
          <a:xfrm>
            <a:off x="2926080" y="2834640"/>
            <a:ext cx="2194560" cy="1280160"/>
          </a:xfrm>
          <a:prstGeom prst="roundRect">
            <a:avLst>
              <a:gd name="adj" fmla="val 7143"/>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20" name="Pastille FaDatabase"/>
          <p:cNvSpPr/>
          <p:nvPr/>
        </p:nvSpPr>
        <p:spPr>
          <a:xfrm>
            <a:off x="3108960" y="3017520"/>
            <a:ext cx="457200" cy="457200"/>
          </a:xfrm>
          <a:prstGeom prst="ellipse">
            <a:avLst/>
          </a:prstGeom>
          <a:solidFill>
            <a:schemeClr val="accent1"/>
          </a:solidFill>
          <a:ln w="12700">
            <a:solidFill>
              <a:schemeClr val="accent1"/>
            </a:solidFill>
            <a:prstDash val="solid"/>
          </a:ln>
        </p:spPr>
      </p:sp>
      <p:pic>
        <p:nvPicPr>
          <p:cNvPr id="21" name="Image 3" descr="Icône FaDatabase"/>
          <p:cNvPicPr>
            <a:picLocks noChangeAspect="1"/>
          </p:cNvPicPr>
          <p:nvPr/>
        </p:nvPicPr>
        <p:blipFill>
          <a:blip r:embed="rId6"/>
          <a:stretch>
            <a:fillRect/>
          </a:stretch>
        </p:blipFill>
        <p:spPr>
          <a:xfrm>
            <a:off x="3223260" y="3131820"/>
            <a:ext cx="228600" cy="228600"/>
          </a:xfrm>
          <a:prstGeom prst="rect">
            <a:avLst/>
          </a:prstGeom>
        </p:spPr>
      </p:pic>
      <p:sp>
        <p:nvSpPr>
          <p:cNvPr id="22" name="Text 15"/>
          <p:cNvSpPr txBox="1"/>
          <p:nvPr/>
        </p:nvSpPr>
        <p:spPr>
          <a:xfrm>
            <a:off x="3703320" y="3017520"/>
            <a:ext cx="1325880" cy="502920"/>
          </a:xfrm>
          <a:prstGeom prst="rect">
            <a:avLst/>
          </a:prstGeom>
          <a:noFill/>
          <a:ln/>
        </p:spPr>
        <p:txBody>
          <a:bodyPr wrap="square" lIns="0" tIns="0" rIns="0" bIns="0" rtlCol="0" anchor="t"/>
          <a:lstStyle/>
          <a:p>
            <a:pPr marL="0" indent="0">
              <a:buNone/>
            </a:pPr>
            <a:r>
              <a:rPr lang="en-US" sz="1600" b="1" dirty="0">
                <a:solidFill>
                  <a:schemeClr val="tx2"/>
                </a:solidFill>
              </a:rPr>
              <a:t>Identifiants valides</a:t>
            </a:r>
            <a:endParaRPr lang="en-US" sz="1600" dirty="0"/>
          </a:p>
        </p:txBody>
      </p:sp>
      <p:sp>
        <p:nvSpPr>
          <p:cNvPr id="23" name="Text 16"/>
          <p:cNvSpPr txBox="1"/>
          <p:nvPr/>
        </p:nvSpPr>
        <p:spPr>
          <a:xfrm>
            <a:off x="3108960" y="3611880"/>
            <a:ext cx="1920240" cy="365760"/>
          </a:xfrm>
          <a:prstGeom prst="rect">
            <a:avLst/>
          </a:prstGeom>
          <a:noFill/>
          <a:ln/>
        </p:spPr>
        <p:txBody>
          <a:bodyPr wrap="square" lIns="0" tIns="0" rIns="0" bIns="0" rtlCol="0" anchor="t"/>
          <a:lstStyle/>
          <a:p>
            <a:pPr marL="0" indent="0">
              <a:buNone/>
            </a:pPr>
            <a:r>
              <a:rPr lang="en-US" sz="1400" dirty="0">
                <a:solidFill>
                  <a:schemeClr val="tx1"/>
                </a:solidFill>
              </a:rPr>
              <a:t>Format STR, CSL, PRS</a:t>
            </a:r>
            <a:endParaRPr lang="en-US" sz="1400" dirty="0"/>
          </a:p>
        </p:txBody>
      </p:sp>
      <p:sp>
        <p:nvSpPr>
          <p:cNvPr id="24" name="Text 17"/>
          <p:cNvSpPr txBox="1"/>
          <p:nvPr/>
        </p:nvSpPr>
        <p:spPr>
          <a:xfrm>
            <a:off x="548640" y="4297680"/>
            <a:ext cx="4572000" cy="274320"/>
          </a:xfrm>
          <a:prstGeom prst="rect">
            <a:avLst/>
          </a:prstGeom>
          <a:noFill/>
          <a:ln/>
        </p:spPr>
        <p:txBody>
          <a:bodyPr wrap="square" lIns="0" tIns="0" rIns="0" bIns="0" rtlCol="0" anchor="t"/>
          <a:lstStyle/>
          <a:p>
            <a:pPr marL="0" indent="0">
              <a:buNone/>
            </a:pPr>
            <a:r>
              <a:rPr lang="en-US" sz="1400" i="1" dirty="0">
                <a:solidFill>
                  <a:schemeClr val="tx1"/>
                </a:solidFill>
              </a:rPr>
              <a:t>Et un contrôle de référence entre les tables</a:t>
            </a:r>
            <a:endParaRPr lang="en-US" sz="1400" dirty="0"/>
          </a:p>
        </p:txBody>
      </p:sp>
      <p:sp>
        <p:nvSpPr>
          <p:cNvPr id="25" name="Cadre 10"/>
          <p:cNvSpPr/>
          <p:nvPr/>
        </p:nvSpPr>
        <p:spPr>
          <a:xfrm>
            <a:off x="5486400" y="1371600"/>
            <a:ext cx="3108960" cy="3154680"/>
          </a:xfrm>
          <a:prstGeom prst="roundRect">
            <a:avLst>
              <a:gd name="adj" fmla="val 2941"/>
            </a:avLst>
          </a:prstGeom>
          <a:solidFill>
            <a:schemeClr val="bg2"/>
          </a:solidFill>
          <a:ln w="12700">
            <a:solidFill>
              <a:schemeClr val="accent5"/>
            </a:solidFill>
            <a:prstDash val="solid"/>
          </a:ln>
        </p:spPr>
      </p:sp>
      <p:sp>
        <p:nvSpPr>
          <p:cNvPr id="3"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7</a:t>
            </a:fld>
            <a:endParaRPr lang="en-US"/>
          </a:p>
        </p:txBody>
      </p:sp>
      <p:pic>
        <p:nvPicPr>
          <p:cNvPr id="26" name="Capture 10" descr="Dagster : sept assets en succès (brut, entrepôt, qualité)"/>
          <p:cNvPicPr>
            <a:picLocks noChangeAspect="1"/>
          </p:cNvPicPr>
          <p:nvPr/>
        </p:nvPicPr>
        <p:blipFill>
          <a:blip r:embed="rId7"/>
          <a:stretch>
            <a:fillRect/>
          </a:stretch>
        </p:blipFill>
        <p:spPr>
          <a:xfrm>
            <a:off x="6106478" y="1453896"/>
            <a:ext cx="1868804" cy="2990087"/>
          </a:xfrm>
          <a:prstGeom prst="rect">
            <a:avLst/>
          </a:prstGeom>
          <a:ln w="9525">
            <a:solidFill>
              <a:schemeClr val="accent5"/>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grpSp>
        <p:nvGrpSpPr>
          <p:cNvPr id="3" name="Groupe 2">
            <a:extLst>
              <a:ext uri="{FF2B5EF4-FFF2-40B4-BE49-F238E27FC236}">
                <a16:creationId xmlns:a16="http://schemas.microsoft.com/office/drawing/2014/main" id="{5A1A146B-5944-3C0D-E3C3-8B7B5F2A230D}"/>
              </a:ext>
            </a:extLst>
          </p:cNvPr>
          <p:cNvGrpSpPr/>
          <p:nvPr/>
        </p:nvGrpSpPr>
        <p:grpSpPr>
          <a:xfrm>
            <a:off x="4681728" y="1371600"/>
            <a:ext cx="3840480" cy="1463040"/>
            <a:chOff x="548640" y="3017520"/>
            <a:chExt cx="3840480" cy="1463040"/>
          </a:xfrm>
        </p:grpSpPr>
        <p:sp>
          <p:nvSpPr>
            <p:cNvPr id="9" name="Table des rejets"/>
            <p:cNvSpPr/>
            <p:nvPr/>
          </p:nvSpPr>
          <p:spPr>
            <a:xfrm>
              <a:off x="548640" y="3017520"/>
              <a:ext cx="3840480" cy="1463040"/>
            </a:xfrm>
            <a:prstGeom prst="roundRect">
              <a:avLst>
                <a:gd name="adj" fmla="val 6250"/>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txBody>
            <a:bodyPr/>
            <a:lstStyle/>
            <a:p>
              <a:endParaRPr lang="fr-BF" dirty="0"/>
            </a:p>
          </p:txBody>
        </p:sp>
        <p:sp>
          <p:nvSpPr>
            <p:cNvPr id="10" name="Pastille FaExclamationTriangle"/>
            <p:cNvSpPr/>
            <p:nvPr/>
          </p:nvSpPr>
          <p:spPr>
            <a:xfrm>
              <a:off x="777240" y="3246120"/>
              <a:ext cx="548640" cy="548640"/>
            </a:xfrm>
            <a:prstGeom prst="ellipse">
              <a:avLst/>
            </a:prstGeom>
            <a:solidFill>
              <a:schemeClr val="accent3"/>
            </a:solidFill>
            <a:ln w="12700">
              <a:solidFill>
                <a:schemeClr val="accent3"/>
              </a:solidFill>
              <a:prstDash val="solid"/>
            </a:ln>
          </p:spPr>
          <p:txBody>
            <a:bodyPr/>
            <a:lstStyle/>
            <a:p>
              <a:endParaRPr lang="fr-BF" dirty="0"/>
            </a:p>
          </p:txBody>
        </p:sp>
        <p:sp>
          <p:nvSpPr>
            <p:cNvPr id="12" name="Text 7"/>
            <p:cNvSpPr txBox="1"/>
            <p:nvPr/>
          </p:nvSpPr>
          <p:spPr>
            <a:xfrm>
              <a:off x="1508760" y="3291840"/>
              <a:ext cx="2743200" cy="365760"/>
            </a:xfrm>
            <a:prstGeom prst="rect">
              <a:avLst/>
            </a:prstGeom>
            <a:noFill/>
            <a:ln/>
          </p:spPr>
          <p:txBody>
            <a:bodyPr wrap="square" lIns="0" tIns="0" rIns="0" bIns="0" rtlCol="0" anchor="t"/>
            <a:lstStyle/>
            <a:p>
              <a:pPr marL="0" indent="0">
                <a:buNone/>
              </a:pPr>
              <a:r>
                <a:rPr lang="en-US" sz="1600" b="1" dirty="0">
                  <a:solidFill>
                    <a:schemeClr val="tx2"/>
                  </a:solidFill>
                </a:rPr>
                <a:t>audit.rejected_records</a:t>
              </a:r>
              <a:endParaRPr lang="en-US" sz="1600" dirty="0"/>
            </a:p>
          </p:txBody>
        </p:sp>
        <p:sp>
          <p:nvSpPr>
            <p:cNvPr id="13" name="Text 8"/>
            <p:cNvSpPr txBox="1"/>
            <p:nvPr/>
          </p:nvSpPr>
          <p:spPr>
            <a:xfrm>
              <a:off x="1508760" y="3749040"/>
              <a:ext cx="2697480" cy="548640"/>
            </a:xfrm>
            <a:prstGeom prst="rect">
              <a:avLst/>
            </a:prstGeom>
            <a:noFill/>
            <a:ln/>
          </p:spPr>
          <p:txBody>
            <a:bodyPr wrap="square" lIns="0" tIns="0" rIns="0" bIns="0" rtlCol="0" anchor="t"/>
            <a:lstStyle/>
            <a:p>
              <a:pPr marL="0" indent="0">
                <a:buNone/>
              </a:pPr>
              <a:r>
                <a:rPr lang="en-US" sz="1400" dirty="0">
                  <a:solidFill>
                    <a:schemeClr val="tx1"/>
                  </a:solidFill>
                </a:rPr>
                <a:t>Chaque rejet : règle, motif et ligne brute</a:t>
              </a:r>
              <a:endParaRPr lang="en-US" sz="1400" dirty="0"/>
            </a:p>
          </p:txBody>
        </p:sp>
      </p:grpSp>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Données valides, rejets expliqués</a:t>
            </a:r>
            <a:endParaRPr lang="en-US" sz="3400" dirty="0"/>
          </a:p>
        </p:txBody>
      </p:sp>
      <p:sp>
        <p:nvSpPr>
          <p:cNvPr id="4" name="Schéma dwh"/>
          <p:cNvSpPr/>
          <p:nvPr/>
        </p:nvSpPr>
        <p:spPr>
          <a:xfrm>
            <a:off x="548640" y="1371600"/>
            <a:ext cx="3840480" cy="1463040"/>
          </a:xfrm>
          <a:prstGeom prst="roundRect">
            <a:avLst>
              <a:gd name="adj" fmla="val 6250"/>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Pastille FaCheckCircle"/>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6" name="Image 0" descr="Icône FaCheckCircle"/>
          <p:cNvPicPr>
            <a:picLocks noChangeAspect="1"/>
          </p:cNvPicPr>
          <p:nvPr/>
        </p:nvPicPr>
        <p:blipFill>
          <a:blip r:embed="rId3"/>
          <a:stretch>
            <a:fillRect/>
          </a:stretch>
        </p:blipFill>
        <p:spPr>
          <a:xfrm>
            <a:off x="914400" y="1737360"/>
            <a:ext cx="274320" cy="274320"/>
          </a:xfrm>
          <a:prstGeom prst="rect">
            <a:avLst/>
          </a:prstGeom>
        </p:spPr>
      </p:pic>
      <p:sp>
        <p:nvSpPr>
          <p:cNvPr id="7" name="Text 3"/>
          <p:cNvSpPr txBox="1"/>
          <p:nvPr/>
        </p:nvSpPr>
        <p:spPr>
          <a:xfrm>
            <a:off x="1508760" y="1645920"/>
            <a:ext cx="2743200" cy="365760"/>
          </a:xfrm>
          <a:prstGeom prst="rect">
            <a:avLst/>
          </a:prstGeom>
          <a:noFill/>
          <a:ln/>
        </p:spPr>
        <p:txBody>
          <a:bodyPr wrap="square" lIns="0" tIns="0" rIns="0" bIns="0" rtlCol="0" anchor="t"/>
          <a:lstStyle/>
          <a:p>
            <a:pPr marL="0" indent="0">
              <a:buNone/>
            </a:pPr>
            <a:r>
              <a:rPr lang="en-US" sz="1800" b="1" dirty="0">
                <a:solidFill>
                  <a:schemeClr val="tx2"/>
                </a:solidFill>
              </a:rPr>
              <a:t>Schéma dwh</a:t>
            </a:r>
            <a:endParaRPr lang="en-US" sz="1800" dirty="0"/>
          </a:p>
        </p:txBody>
      </p:sp>
      <p:sp>
        <p:nvSpPr>
          <p:cNvPr id="8" name="Text 4"/>
          <p:cNvSpPr txBox="1"/>
          <p:nvPr/>
        </p:nvSpPr>
        <p:spPr>
          <a:xfrm>
            <a:off x="1508760" y="2103120"/>
            <a:ext cx="2697480" cy="548640"/>
          </a:xfrm>
          <a:prstGeom prst="rect">
            <a:avLst/>
          </a:prstGeom>
          <a:noFill/>
          <a:ln/>
        </p:spPr>
        <p:txBody>
          <a:bodyPr wrap="square" lIns="0" tIns="0" rIns="0" bIns="0" rtlCol="0" anchor="t"/>
          <a:lstStyle/>
          <a:p>
            <a:pPr marL="0" indent="0">
              <a:buNone/>
            </a:pPr>
            <a:r>
              <a:rPr lang="en-US" sz="1400" dirty="0">
                <a:solidFill>
                  <a:schemeClr val="tx1"/>
                </a:solidFill>
              </a:rPr>
              <a:t>Données valides, avec clés et contraintes</a:t>
            </a:r>
            <a:endParaRPr lang="en-US" sz="1400" dirty="0"/>
          </a:p>
        </p:txBody>
      </p:sp>
      <p:pic>
        <p:nvPicPr>
          <p:cNvPr id="11" name="Image 1" descr="Icône FaExclamationTriangle"/>
          <p:cNvPicPr>
            <a:picLocks noChangeAspect="1"/>
          </p:cNvPicPr>
          <p:nvPr/>
        </p:nvPicPr>
        <p:blipFill>
          <a:blip r:embed="rId4"/>
          <a:stretch>
            <a:fillRect/>
          </a:stretch>
        </p:blipFill>
        <p:spPr>
          <a:xfrm>
            <a:off x="5047488" y="1691640"/>
            <a:ext cx="274320" cy="274320"/>
          </a:xfrm>
          <a:prstGeom prst="rect">
            <a:avLst/>
          </a:prstGeom>
        </p:spPr>
      </p:pic>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FastAPI expose les indicateurs</a:t>
            </a:r>
            <a:endParaRPr lang="en-US" sz="3400" dirty="0"/>
          </a:p>
        </p:txBody>
      </p:sp>
      <p:sp>
        <p:nvSpPr>
          <p:cNvPr id="4" name="Route /indicateurs/consultations"/>
          <p:cNvSpPr/>
          <p:nvPr/>
        </p:nvSpPr>
        <p:spPr>
          <a:xfrm>
            <a:off x="548640" y="1371600"/>
            <a:ext cx="3840480" cy="685800"/>
          </a:xfrm>
          <a:prstGeom prst="roundRect">
            <a:avLst>
              <a:gd name="adj" fmla="val 13333"/>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Text 2"/>
          <p:cNvSpPr txBox="1"/>
          <p:nvPr/>
        </p:nvSpPr>
        <p:spPr>
          <a:xfrm>
            <a:off x="731520" y="1463040"/>
            <a:ext cx="3474720" cy="274320"/>
          </a:xfrm>
          <a:prstGeom prst="rect">
            <a:avLst/>
          </a:prstGeom>
          <a:noFill/>
          <a:ln/>
        </p:spPr>
        <p:txBody>
          <a:bodyPr wrap="square" lIns="0" tIns="0" rIns="0" bIns="0" rtlCol="0" anchor="t"/>
          <a:lstStyle/>
          <a:p>
            <a:pPr marL="0" indent="0">
              <a:buNone/>
            </a:pPr>
            <a:r>
              <a:rPr lang="en-US" sz="1300" b="1" dirty="0">
                <a:solidFill>
                  <a:schemeClr val="tx2"/>
                </a:solidFill>
                <a:latin typeface="Courier New" pitchFamily="34" charset="0"/>
                <a:ea typeface="Courier New" pitchFamily="34" charset="-122"/>
                <a:cs typeface="Courier New" pitchFamily="34" charset="-120"/>
              </a:rPr>
              <a:t>/indicateurs/consultations</a:t>
            </a:r>
            <a:endParaRPr lang="en-US" sz="1300" dirty="0"/>
          </a:p>
        </p:txBody>
      </p:sp>
      <p:sp>
        <p:nvSpPr>
          <p:cNvPr id="6" name="Text 3"/>
          <p:cNvSpPr txBox="1"/>
          <p:nvPr/>
        </p:nvSpPr>
        <p:spPr>
          <a:xfrm>
            <a:off x="731520" y="1737360"/>
            <a:ext cx="3474720" cy="274320"/>
          </a:xfrm>
          <a:prstGeom prst="rect">
            <a:avLst/>
          </a:prstGeom>
          <a:noFill/>
          <a:ln/>
        </p:spPr>
        <p:txBody>
          <a:bodyPr wrap="square" lIns="0" tIns="0" rIns="0" bIns="0" rtlCol="0" anchor="t"/>
          <a:lstStyle/>
          <a:p>
            <a:pPr marL="0" indent="0">
              <a:buNone/>
            </a:pPr>
            <a:r>
              <a:rPr lang="en-US" sz="1400" dirty="0">
                <a:solidFill>
                  <a:schemeClr val="tx1"/>
                </a:solidFill>
              </a:rPr>
              <a:t>Consultations par période et par structure</a:t>
            </a:r>
            <a:endParaRPr lang="en-US" sz="1400" dirty="0"/>
          </a:p>
        </p:txBody>
      </p:sp>
      <p:sp>
        <p:nvSpPr>
          <p:cNvPr id="7" name="Route /indicateurs/prestations"/>
          <p:cNvSpPr/>
          <p:nvPr/>
        </p:nvSpPr>
        <p:spPr>
          <a:xfrm>
            <a:off x="548640" y="2194560"/>
            <a:ext cx="3840480" cy="685800"/>
          </a:xfrm>
          <a:prstGeom prst="roundRect">
            <a:avLst>
              <a:gd name="adj" fmla="val 13333"/>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8" name="Text 5"/>
          <p:cNvSpPr txBox="1"/>
          <p:nvPr/>
        </p:nvSpPr>
        <p:spPr>
          <a:xfrm>
            <a:off x="731520" y="2286000"/>
            <a:ext cx="3474720" cy="274320"/>
          </a:xfrm>
          <a:prstGeom prst="rect">
            <a:avLst/>
          </a:prstGeom>
          <a:noFill/>
          <a:ln/>
        </p:spPr>
        <p:txBody>
          <a:bodyPr wrap="square" lIns="0" tIns="0" rIns="0" bIns="0" rtlCol="0" anchor="t"/>
          <a:lstStyle/>
          <a:p>
            <a:pPr marL="0" indent="0">
              <a:buNone/>
            </a:pPr>
            <a:r>
              <a:rPr lang="en-US" sz="1300" b="1" dirty="0">
                <a:solidFill>
                  <a:schemeClr val="tx2"/>
                </a:solidFill>
                <a:latin typeface="Courier New" pitchFamily="34" charset="0"/>
                <a:ea typeface="Courier New" pitchFamily="34" charset="-122"/>
                <a:cs typeface="Courier New" pitchFamily="34" charset="-120"/>
              </a:rPr>
              <a:t>/indicateurs/prestations</a:t>
            </a:r>
            <a:endParaRPr lang="en-US" sz="1300" dirty="0"/>
          </a:p>
        </p:txBody>
      </p:sp>
      <p:sp>
        <p:nvSpPr>
          <p:cNvPr id="9" name="Text 6"/>
          <p:cNvSpPr txBox="1"/>
          <p:nvPr/>
        </p:nvSpPr>
        <p:spPr>
          <a:xfrm>
            <a:off x="731520" y="2560320"/>
            <a:ext cx="3474720" cy="274320"/>
          </a:xfrm>
          <a:prstGeom prst="rect">
            <a:avLst/>
          </a:prstGeom>
          <a:noFill/>
          <a:ln/>
        </p:spPr>
        <p:txBody>
          <a:bodyPr wrap="square" lIns="0" tIns="0" rIns="0" bIns="0" rtlCol="0" anchor="t"/>
          <a:lstStyle/>
          <a:p>
            <a:pPr marL="0" indent="0">
              <a:buNone/>
            </a:pPr>
            <a:r>
              <a:rPr lang="en-US" sz="1400" dirty="0">
                <a:solidFill>
                  <a:schemeClr val="tx1"/>
                </a:solidFill>
              </a:rPr>
              <a:t>Prestations et montants en FCFA</a:t>
            </a:r>
            <a:endParaRPr lang="en-US" sz="1400" dirty="0"/>
          </a:p>
        </p:txBody>
      </p:sp>
      <p:sp>
        <p:nvSpPr>
          <p:cNvPr id="10" name="Route /rejets/resume"/>
          <p:cNvSpPr/>
          <p:nvPr/>
        </p:nvSpPr>
        <p:spPr>
          <a:xfrm>
            <a:off x="548640" y="3017520"/>
            <a:ext cx="3840480" cy="685800"/>
          </a:xfrm>
          <a:prstGeom prst="roundRect">
            <a:avLst>
              <a:gd name="adj" fmla="val 13333"/>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1" name="Text 8"/>
          <p:cNvSpPr txBox="1"/>
          <p:nvPr/>
        </p:nvSpPr>
        <p:spPr>
          <a:xfrm>
            <a:off x="731520" y="3108960"/>
            <a:ext cx="3474720" cy="274320"/>
          </a:xfrm>
          <a:prstGeom prst="rect">
            <a:avLst/>
          </a:prstGeom>
          <a:noFill/>
          <a:ln/>
        </p:spPr>
        <p:txBody>
          <a:bodyPr wrap="square" lIns="0" tIns="0" rIns="0" bIns="0" rtlCol="0" anchor="t"/>
          <a:lstStyle/>
          <a:p>
            <a:pPr marL="0" indent="0">
              <a:buNone/>
            </a:pPr>
            <a:r>
              <a:rPr lang="en-US" sz="1300" b="1" dirty="0">
                <a:solidFill>
                  <a:schemeClr val="tx2"/>
                </a:solidFill>
                <a:latin typeface="Courier New" pitchFamily="34" charset="0"/>
                <a:ea typeface="Courier New" pitchFamily="34" charset="-122"/>
                <a:cs typeface="Courier New" pitchFamily="34" charset="-120"/>
              </a:rPr>
              <a:t>/rejets/resume</a:t>
            </a:r>
            <a:endParaRPr lang="en-US" sz="1300" dirty="0"/>
          </a:p>
        </p:txBody>
      </p:sp>
      <p:sp>
        <p:nvSpPr>
          <p:cNvPr id="12" name="Text 9"/>
          <p:cNvSpPr txBox="1"/>
          <p:nvPr/>
        </p:nvSpPr>
        <p:spPr>
          <a:xfrm>
            <a:off x="731520" y="3383280"/>
            <a:ext cx="3474720" cy="274320"/>
          </a:xfrm>
          <a:prstGeom prst="rect">
            <a:avLst/>
          </a:prstGeom>
          <a:noFill/>
          <a:ln/>
        </p:spPr>
        <p:txBody>
          <a:bodyPr wrap="square" lIns="0" tIns="0" rIns="0" bIns="0" rtlCol="0" anchor="t"/>
          <a:lstStyle/>
          <a:p>
            <a:pPr marL="0" indent="0">
              <a:buNone/>
            </a:pPr>
            <a:r>
              <a:rPr lang="en-US" sz="1400" dirty="0">
                <a:solidFill>
                  <a:schemeClr val="tx1"/>
                </a:solidFill>
              </a:rPr>
              <a:t>Nombre de rejets par règle et motif</a:t>
            </a:r>
            <a:endParaRPr lang="en-US" sz="1400" dirty="0"/>
          </a:p>
        </p:txBody>
      </p:sp>
      <p:sp>
        <p:nvSpPr>
          <p:cNvPr id="13" name="Route /rejets"/>
          <p:cNvSpPr/>
          <p:nvPr/>
        </p:nvSpPr>
        <p:spPr>
          <a:xfrm>
            <a:off x="548640" y="3840480"/>
            <a:ext cx="3840480" cy="685800"/>
          </a:xfrm>
          <a:prstGeom prst="roundRect">
            <a:avLst>
              <a:gd name="adj" fmla="val 13333"/>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4" name="Text 11"/>
          <p:cNvSpPr txBox="1"/>
          <p:nvPr/>
        </p:nvSpPr>
        <p:spPr>
          <a:xfrm>
            <a:off x="731520" y="3931920"/>
            <a:ext cx="3474720" cy="274320"/>
          </a:xfrm>
          <a:prstGeom prst="rect">
            <a:avLst/>
          </a:prstGeom>
          <a:noFill/>
          <a:ln/>
        </p:spPr>
        <p:txBody>
          <a:bodyPr wrap="square" lIns="0" tIns="0" rIns="0" bIns="0" rtlCol="0" anchor="t"/>
          <a:lstStyle/>
          <a:p>
            <a:pPr marL="0" indent="0">
              <a:buNone/>
            </a:pPr>
            <a:r>
              <a:rPr lang="en-US" sz="1300" b="1" dirty="0">
                <a:solidFill>
                  <a:schemeClr val="tx2"/>
                </a:solidFill>
                <a:latin typeface="Courier New" pitchFamily="34" charset="0"/>
                <a:ea typeface="Courier New" pitchFamily="34" charset="-122"/>
                <a:cs typeface="Courier New" pitchFamily="34" charset="-120"/>
              </a:rPr>
              <a:t>/rejets</a:t>
            </a:r>
            <a:endParaRPr lang="en-US" sz="1300" dirty="0"/>
          </a:p>
        </p:txBody>
      </p:sp>
      <p:sp>
        <p:nvSpPr>
          <p:cNvPr id="15" name="Text 12"/>
          <p:cNvSpPr txBox="1"/>
          <p:nvPr/>
        </p:nvSpPr>
        <p:spPr>
          <a:xfrm>
            <a:off x="731520" y="4206240"/>
            <a:ext cx="3474720" cy="274320"/>
          </a:xfrm>
          <a:prstGeom prst="rect">
            <a:avLst/>
          </a:prstGeom>
          <a:noFill/>
          <a:ln/>
        </p:spPr>
        <p:txBody>
          <a:bodyPr wrap="square" lIns="0" tIns="0" rIns="0" bIns="0" rtlCol="0" anchor="t"/>
          <a:lstStyle/>
          <a:p>
            <a:pPr marL="0" indent="0">
              <a:buNone/>
            </a:pPr>
            <a:r>
              <a:rPr lang="en-US" sz="1400" dirty="0">
                <a:solidFill>
                  <a:schemeClr val="tx1"/>
                </a:solidFill>
              </a:rPr>
              <a:t>Détail des lignes rejetées</a:t>
            </a:r>
            <a:endParaRPr lang="en-US" sz="1400" dirty="0"/>
          </a:p>
        </p:txBody>
      </p:sp>
      <p:sp>
        <p:nvSpPr>
          <p:cNvPr id="16" name="Cadre 14"/>
          <p:cNvSpPr/>
          <p:nvPr/>
        </p:nvSpPr>
        <p:spPr>
          <a:xfrm>
            <a:off x="4572000" y="1371600"/>
            <a:ext cx="4023360" cy="3154680"/>
          </a:xfrm>
          <a:prstGeom prst="roundRect">
            <a:avLst>
              <a:gd name="adj" fmla="val 2899"/>
            </a:avLst>
          </a:prstGeom>
          <a:solidFill>
            <a:schemeClr val="bg2"/>
          </a:solidFill>
          <a:ln w="12700">
            <a:solidFill>
              <a:schemeClr val="accent5"/>
            </a:solidFill>
            <a:prstDash val="solid"/>
          </a:ln>
        </p:spPr>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9</a:t>
            </a:fld>
            <a:endParaRPr lang="en-US"/>
          </a:p>
        </p:txBody>
      </p:sp>
      <p:pic>
        <p:nvPicPr>
          <p:cNvPr id="26" name="Capture 14" descr="Swagger UI de l’API des indicateurs sanitaires"/>
          <p:cNvPicPr>
            <a:picLocks noChangeAspect="1"/>
          </p:cNvPicPr>
          <p:nvPr/>
        </p:nvPicPr>
        <p:blipFill>
          <a:blip r:embed="rId3"/>
          <a:stretch>
            <a:fillRect/>
          </a:stretch>
        </p:blipFill>
        <p:spPr>
          <a:xfrm>
            <a:off x="4654296" y="1731318"/>
            <a:ext cx="3858768" cy="2435243"/>
          </a:xfrm>
          <a:prstGeom prst="rect">
            <a:avLst/>
          </a:prstGeom>
          <a:ln w="9525">
            <a:solidFill>
              <a:schemeClr val="accent5"/>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Une installation reproductible</a:t>
            </a:r>
            <a:endParaRPr lang="en-US" sz="3400" dirty="0"/>
          </a:p>
        </p:txBody>
      </p:sp>
      <p:sp>
        <p:nvSpPr>
          <p:cNvPr id="4" name="Geste Cloner"/>
          <p:cNvSpPr/>
          <p:nvPr/>
        </p:nvSpPr>
        <p:spPr>
          <a:xfrm>
            <a:off x="548640" y="1325880"/>
            <a:ext cx="1874520" cy="1783080"/>
          </a:xfrm>
          <a:prstGeom prst="roundRect">
            <a:avLst>
              <a:gd name="adj" fmla="val 5128"/>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Numéro 1"/>
          <p:cNvSpPr txBox="1"/>
          <p:nvPr/>
        </p:nvSpPr>
        <p:spPr>
          <a:xfrm>
            <a:off x="731520" y="1508760"/>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3"/>
          <p:cNvSpPr txBox="1"/>
          <p:nvPr/>
        </p:nvSpPr>
        <p:spPr>
          <a:xfrm>
            <a:off x="731520" y="2057400"/>
            <a:ext cx="1554480" cy="320040"/>
          </a:xfrm>
          <a:prstGeom prst="rect">
            <a:avLst/>
          </a:prstGeom>
          <a:noFill/>
          <a:ln/>
        </p:spPr>
        <p:txBody>
          <a:bodyPr wrap="square" lIns="0" tIns="0" rIns="0" bIns="0" rtlCol="0" anchor="t"/>
          <a:lstStyle/>
          <a:p>
            <a:pPr marL="0" indent="0">
              <a:buNone/>
            </a:pPr>
            <a:r>
              <a:rPr lang="en-US" sz="1600" b="1" dirty="0">
                <a:solidFill>
                  <a:schemeClr val="tx2"/>
                </a:solidFill>
              </a:rPr>
              <a:t>Cloner</a:t>
            </a:r>
            <a:endParaRPr lang="en-US" sz="1600" dirty="0"/>
          </a:p>
        </p:txBody>
      </p:sp>
      <p:sp>
        <p:nvSpPr>
          <p:cNvPr id="7" name="Text 4"/>
          <p:cNvSpPr txBox="1"/>
          <p:nvPr/>
        </p:nvSpPr>
        <p:spPr>
          <a:xfrm>
            <a:off x="731520" y="2468880"/>
            <a:ext cx="1554480" cy="502920"/>
          </a:xfrm>
          <a:prstGeom prst="rect">
            <a:avLst/>
          </a:prstGeom>
          <a:noFill/>
          <a:ln/>
        </p:spPr>
        <p:txBody>
          <a:bodyPr wrap="square" lIns="0" tIns="0" rIns="0" bIns="0" rtlCol="0" anchor="t"/>
          <a:lstStyle/>
          <a:p>
            <a:pPr marL="0" indent="0">
              <a:buNone/>
            </a:pPr>
            <a:r>
              <a:rPr lang="en-US" sz="1100" dirty="0">
                <a:solidFill>
                  <a:schemeClr val="tx1"/>
                </a:solidFill>
                <a:latin typeface="Courier New" pitchFamily="34" charset="0"/>
                <a:ea typeface="Courier New" pitchFamily="34" charset="-122"/>
                <a:cs typeface="Courier New" pitchFamily="34" charset="-120"/>
              </a:rPr>
              <a:t>git clone URL</a:t>
            </a:r>
            <a:endParaRPr lang="en-US" sz="1100" dirty="0"/>
          </a:p>
        </p:txBody>
      </p:sp>
      <p:sp>
        <p:nvSpPr>
          <p:cNvPr id="8" name="Geste Démarrer"/>
          <p:cNvSpPr/>
          <p:nvPr/>
        </p:nvSpPr>
        <p:spPr>
          <a:xfrm>
            <a:off x="2606040" y="1325880"/>
            <a:ext cx="1874520" cy="1783080"/>
          </a:xfrm>
          <a:prstGeom prst="roundRect">
            <a:avLst>
              <a:gd name="adj" fmla="val 5128"/>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9" name="Numéro 2"/>
          <p:cNvSpPr txBox="1"/>
          <p:nvPr/>
        </p:nvSpPr>
        <p:spPr>
          <a:xfrm>
            <a:off x="2788920" y="1508760"/>
            <a:ext cx="411480" cy="41148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Text 7"/>
          <p:cNvSpPr txBox="1"/>
          <p:nvPr/>
        </p:nvSpPr>
        <p:spPr>
          <a:xfrm>
            <a:off x="2788920" y="2057400"/>
            <a:ext cx="1554480" cy="320040"/>
          </a:xfrm>
          <a:prstGeom prst="rect">
            <a:avLst/>
          </a:prstGeom>
          <a:noFill/>
          <a:ln/>
        </p:spPr>
        <p:txBody>
          <a:bodyPr wrap="square" lIns="0" tIns="0" rIns="0" bIns="0" rtlCol="0" anchor="t"/>
          <a:lstStyle/>
          <a:p>
            <a:pPr marL="0" indent="0">
              <a:buNone/>
            </a:pPr>
            <a:r>
              <a:rPr lang="en-US" sz="1600" b="1" dirty="0">
                <a:solidFill>
                  <a:schemeClr val="tx2"/>
                </a:solidFill>
              </a:rPr>
              <a:t>Démarrer</a:t>
            </a:r>
            <a:endParaRPr lang="en-US" sz="1600" dirty="0"/>
          </a:p>
        </p:txBody>
      </p:sp>
      <p:sp>
        <p:nvSpPr>
          <p:cNvPr id="11" name="Text 8"/>
          <p:cNvSpPr txBox="1"/>
          <p:nvPr/>
        </p:nvSpPr>
        <p:spPr>
          <a:xfrm>
            <a:off x="2788920" y="2468880"/>
            <a:ext cx="1554480" cy="502920"/>
          </a:xfrm>
          <a:prstGeom prst="rect">
            <a:avLst/>
          </a:prstGeom>
          <a:noFill/>
          <a:ln/>
        </p:spPr>
        <p:txBody>
          <a:bodyPr wrap="square" lIns="0" tIns="0" rIns="0" bIns="0" rtlCol="0" anchor="t"/>
          <a:lstStyle/>
          <a:p>
            <a:pPr marL="0" indent="0">
              <a:buNone/>
            </a:pPr>
            <a:r>
              <a:rPr lang="en-US" sz="1100" dirty="0">
                <a:solidFill>
                  <a:schemeClr val="tx1"/>
                </a:solidFill>
                <a:latin typeface="Courier New" pitchFamily="34" charset="0"/>
                <a:ea typeface="Courier New" pitchFamily="34" charset="-122"/>
                <a:cs typeface="Courier New" pitchFamily="34" charset="-120"/>
              </a:rPr>
              <a:t>docker compose up -d --build</a:t>
            </a:r>
            <a:endParaRPr lang="en-US" sz="1100" dirty="0"/>
          </a:p>
        </p:txBody>
      </p:sp>
      <p:sp>
        <p:nvSpPr>
          <p:cNvPr id="12" name="Geste Charger"/>
          <p:cNvSpPr/>
          <p:nvPr/>
        </p:nvSpPr>
        <p:spPr>
          <a:xfrm>
            <a:off x="4663440" y="1325880"/>
            <a:ext cx="1874520" cy="1783080"/>
          </a:xfrm>
          <a:prstGeom prst="roundRect">
            <a:avLst>
              <a:gd name="adj" fmla="val 5128"/>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3" name="Numéro 3"/>
          <p:cNvSpPr txBox="1"/>
          <p:nvPr/>
        </p:nvSpPr>
        <p:spPr>
          <a:xfrm>
            <a:off x="4846320" y="1508760"/>
            <a:ext cx="411480" cy="4114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 11"/>
          <p:cNvSpPr txBox="1"/>
          <p:nvPr/>
        </p:nvSpPr>
        <p:spPr>
          <a:xfrm>
            <a:off x="4846320" y="2057400"/>
            <a:ext cx="1554480" cy="320040"/>
          </a:xfrm>
          <a:prstGeom prst="rect">
            <a:avLst/>
          </a:prstGeom>
          <a:noFill/>
          <a:ln/>
        </p:spPr>
        <p:txBody>
          <a:bodyPr wrap="square" lIns="0" tIns="0" rIns="0" bIns="0" rtlCol="0" anchor="t"/>
          <a:lstStyle/>
          <a:p>
            <a:pPr marL="0" indent="0">
              <a:buNone/>
            </a:pPr>
            <a:r>
              <a:rPr lang="en-US" sz="1600" b="1" dirty="0">
                <a:solidFill>
                  <a:schemeClr val="tx2"/>
                </a:solidFill>
              </a:rPr>
              <a:t>Charger</a:t>
            </a:r>
            <a:endParaRPr lang="en-US" sz="1600" dirty="0"/>
          </a:p>
        </p:txBody>
      </p:sp>
      <p:sp>
        <p:nvSpPr>
          <p:cNvPr id="15" name="Text 12"/>
          <p:cNvSpPr txBox="1"/>
          <p:nvPr/>
        </p:nvSpPr>
        <p:spPr>
          <a:xfrm>
            <a:off x="4846320" y="2468880"/>
            <a:ext cx="1554480" cy="502920"/>
          </a:xfrm>
          <a:prstGeom prst="rect">
            <a:avLst/>
          </a:prstGeom>
          <a:noFill/>
          <a:ln/>
        </p:spPr>
        <p:txBody>
          <a:bodyPr wrap="square" lIns="0" tIns="0" rIns="0" bIns="0" rtlCol="0" anchor="t"/>
          <a:lstStyle/>
          <a:p>
            <a:pPr marL="0" indent="0">
              <a:buNone/>
            </a:pPr>
            <a:r>
              <a:rPr lang="en-US" sz="1100" dirty="0">
                <a:solidFill>
                  <a:schemeClr val="tx1"/>
                </a:solidFill>
                <a:latin typeface="Courier New" pitchFamily="34" charset="0"/>
                <a:ea typeface="Courier New" pitchFamily="34" charset="-122"/>
                <a:cs typeface="Courier New" pitchFamily="34" charset="-120"/>
              </a:rPr>
              <a:t>psql -f /data/charger.sql</a:t>
            </a:r>
            <a:endParaRPr lang="en-US" sz="1100" dirty="0"/>
          </a:p>
        </p:txBody>
      </p:sp>
      <p:sp>
        <p:nvSpPr>
          <p:cNvPr id="16" name="Geste Airbyte à part"/>
          <p:cNvSpPr/>
          <p:nvPr/>
        </p:nvSpPr>
        <p:spPr>
          <a:xfrm>
            <a:off x="6720840" y="1325880"/>
            <a:ext cx="1874520" cy="1783080"/>
          </a:xfrm>
          <a:prstGeom prst="roundRect">
            <a:avLst>
              <a:gd name="adj" fmla="val 5128"/>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7" name="Numéro 4"/>
          <p:cNvSpPr txBox="1"/>
          <p:nvPr/>
        </p:nvSpPr>
        <p:spPr>
          <a:xfrm>
            <a:off x="6903720" y="1508760"/>
            <a:ext cx="411480" cy="411480"/>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Text 15"/>
          <p:cNvSpPr txBox="1"/>
          <p:nvPr/>
        </p:nvSpPr>
        <p:spPr>
          <a:xfrm>
            <a:off x="6903720" y="2057400"/>
            <a:ext cx="1554480" cy="320040"/>
          </a:xfrm>
          <a:prstGeom prst="rect">
            <a:avLst/>
          </a:prstGeom>
          <a:noFill/>
          <a:ln/>
        </p:spPr>
        <p:txBody>
          <a:bodyPr wrap="square" lIns="0" tIns="0" rIns="0" bIns="0" rtlCol="0" anchor="t"/>
          <a:lstStyle/>
          <a:p>
            <a:pPr marL="0" indent="0">
              <a:buNone/>
            </a:pPr>
            <a:r>
              <a:rPr lang="en-US" sz="1600" b="1" dirty="0">
                <a:solidFill>
                  <a:schemeClr val="tx2"/>
                </a:solidFill>
              </a:rPr>
              <a:t>Airbyte à part</a:t>
            </a:r>
            <a:endParaRPr lang="en-US" sz="1600" dirty="0"/>
          </a:p>
        </p:txBody>
      </p:sp>
      <p:sp>
        <p:nvSpPr>
          <p:cNvPr id="19" name="Text 16"/>
          <p:cNvSpPr txBox="1"/>
          <p:nvPr/>
        </p:nvSpPr>
        <p:spPr>
          <a:xfrm>
            <a:off x="6903720" y="2468880"/>
            <a:ext cx="1554480" cy="502920"/>
          </a:xfrm>
          <a:prstGeom prst="rect">
            <a:avLst/>
          </a:prstGeom>
          <a:noFill/>
          <a:ln/>
        </p:spPr>
        <p:txBody>
          <a:bodyPr wrap="square" lIns="0" tIns="0" rIns="0" bIns="0" rtlCol="0" anchor="t"/>
          <a:lstStyle/>
          <a:p>
            <a:pPr marL="0" indent="0">
              <a:buNone/>
            </a:pPr>
            <a:r>
              <a:rPr lang="en-US" sz="1100" dirty="0">
                <a:solidFill>
                  <a:schemeClr val="tx1"/>
                </a:solidFill>
                <a:latin typeface="Courier New" pitchFamily="34" charset="0"/>
                <a:ea typeface="Courier New" pitchFamily="34" charset="-122"/>
                <a:cs typeface="Courier New" pitchFamily="34" charset="-120"/>
              </a:rPr>
              <a:t>abctl local install</a:t>
            </a:r>
            <a:endParaRPr lang="en-US" sz="1100" dirty="0"/>
          </a:p>
        </p:txBody>
      </p:sp>
      <p:sp>
        <p:nvSpPr>
          <p:cNvPr id="20" name="Zone de capture capture_18_docker_compose_ps.png"/>
          <p:cNvSpPr/>
          <p:nvPr/>
        </p:nvSpPr>
        <p:spPr>
          <a:xfrm>
            <a:off x="548640" y="3291840"/>
            <a:ext cx="8046720" cy="1234440"/>
          </a:xfrm>
          <a:prstGeom prst="roundRect">
            <a:avLst>
              <a:gd name="adj" fmla="val 7407"/>
            </a:avLst>
          </a:prstGeom>
          <a:solidFill>
            <a:schemeClr val="bg2"/>
          </a:solidFill>
          <a:ln w="15875">
            <a:solidFill>
              <a:schemeClr val="accent4"/>
            </a:solidFill>
            <a:prstDash val="dash"/>
          </a:ln>
        </p:spPr>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10</a:t>
            </a:fld>
            <a:endParaRPr lang="en-US"/>
          </a:p>
        </p:txBody>
      </p:sp>
      <p:pic>
        <p:nvPicPr>
          <p:cNvPr id="24" name="Image 23">
            <a:extLst>
              <a:ext uri="{FF2B5EF4-FFF2-40B4-BE49-F238E27FC236}">
                <a16:creationId xmlns:a16="http://schemas.microsoft.com/office/drawing/2014/main" id="{57871F47-F258-8A56-B3A4-30348D6D7336}"/>
              </a:ext>
            </a:extLst>
          </p:cNvPr>
          <p:cNvPicPr>
            <a:picLocks noChangeAspect="1"/>
          </p:cNvPicPr>
          <p:nvPr/>
        </p:nvPicPr>
        <p:blipFill>
          <a:blip r:embed="rId3"/>
          <a:stretch>
            <a:fillRect/>
          </a:stretch>
        </p:blipFill>
        <p:spPr>
          <a:xfrm>
            <a:off x="548640" y="3200400"/>
            <a:ext cx="8046720" cy="1389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Deux scénarios de bout en bout</a:t>
            </a:r>
            <a:endParaRPr lang="en-US" sz="3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11</a:t>
            </a:fld>
            <a:endParaRPr lang="en-US"/>
          </a:p>
        </p:txBody>
      </p:sp>
      <p:sp>
        <p:nvSpPr>
          <p:cNvPr id="26" name="Carte Nominal"/>
          <p:cNvSpPr/>
          <p:nvPr/>
        </p:nvSpPr>
        <p:spPr>
          <a:xfrm>
            <a:off x="548640" y="1325880"/>
            <a:ext cx="3931920" cy="3200400"/>
          </a:xfrm>
          <a:prstGeom prst="roundRect">
            <a:avLst>
              <a:gd name="adj" fmla="val 5000"/>
            </a:avLst>
          </a:prstGeom>
          <a:solidFill>
            <a:schemeClr val="bg2"/>
          </a:solidFill>
          <a:ln w="9525">
            <a:solidFill>
              <a:schemeClr val="accent5"/>
            </a:solidFill>
          </a:ln>
          <a:effectLst>
            <a:outerShdw blurRad="76200" dist="25400" dir="5400000" algn="bl" rotWithShape="0">
              <a:srgbClr val="0F172A">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tre Nominal"/>
          <p:cNvSpPr txBox="1"/>
          <p:nvPr/>
        </p:nvSpPr>
        <p:spPr>
          <a:xfrm>
            <a:off x="777240" y="1463040"/>
            <a:ext cx="3520440" cy="292608"/>
          </a:xfrm>
          <a:prstGeom prst="rect">
            <a:avLst/>
          </a:prstGeom>
          <a:noFill/>
        </p:spPr>
        <p:txBody>
          <a:bodyPr wrap="square" lIns="0" tIns="0" rIns="0" bIns="0" anchor="t">
            <a:spAutoFit/>
          </a:bodyPr>
          <a:lstStyle/>
          <a:p>
            <a:pPr algn="l"/>
            <a:r>
              <a:rPr sz="1600" b="1">
                <a:solidFill>
                  <a:schemeClr val="tx2"/>
                </a:solidFill>
              </a:rPr>
              <a:t>Scénario nominal</a:t>
            </a:r>
            <a:r>
              <a:rPr sz="1200" b="0">
                <a:solidFill>
                  <a:schemeClr val="tx1"/>
                </a:solidFill>
              </a:rPr>
              <a:t>  ·  données saines</a:t>
            </a:r>
          </a:p>
        </p:txBody>
      </p:sp>
      <p:sp>
        <p:nvSpPr>
          <p:cNvPr id="28" name="Numéro Nominal 1"/>
          <p:cNvSpPr/>
          <p:nvPr/>
        </p:nvSpPr>
        <p:spPr>
          <a:xfrm>
            <a:off x="777240" y="1920240"/>
            <a:ext cx="274320" cy="274320"/>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1</a:t>
            </a:r>
          </a:p>
        </p:txBody>
      </p:sp>
      <p:sp>
        <p:nvSpPr>
          <p:cNvPr id="29" name="Étape Nominal 1"/>
          <p:cNvSpPr txBox="1"/>
          <p:nvPr/>
        </p:nvSpPr>
        <p:spPr>
          <a:xfrm>
            <a:off x="1188719" y="1901952"/>
            <a:ext cx="3108960" cy="201168"/>
          </a:xfrm>
          <a:prstGeom prst="rect">
            <a:avLst/>
          </a:prstGeom>
          <a:noFill/>
        </p:spPr>
        <p:txBody>
          <a:bodyPr wrap="square" lIns="0" tIns="0" rIns="0" bIns="0" anchor="t">
            <a:spAutoFit/>
          </a:bodyPr>
          <a:lstStyle/>
          <a:p>
            <a:pPr algn="l"/>
            <a:r>
              <a:rPr sz="1200" b="1">
                <a:solidFill>
                  <a:schemeClr val="tx2"/>
                </a:solidFill>
              </a:rPr>
              <a:t>Repartir de zéro</a:t>
            </a:r>
          </a:p>
        </p:txBody>
      </p:sp>
      <p:sp>
        <p:nvSpPr>
          <p:cNvPr id="30" name="Détail Nominal 1"/>
          <p:cNvSpPr txBox="1"/>
          <p:nvPr/>
        </p:nvSpPr>
        <p:spPr>
          <a:xfrm>
            <a:off x="1188719" y="2093976"/>
            <a:ext cx="3108960" cy="182880"/>
          </a:xfrm>
          <a:prstGeom prst="rect">
            <a:avLst/>
          </a:prstGeom>
          <a:noFill/>
        </p:spPr>
        <p:txBody>
          <a:bodyPr wrap="square" lIns="0" tIns="0" rIns="0" bIns="0" anchor="t">
            <a:spAutoFit/>
          </a:bodyPr>
          <a:lstStyle/>
          <a:p>
            <a:pPr algn="l"/>
            <a:r>
              <a:rPr sz="1000" b="0">
                <a:solidFill>
                  <a:schemeClr val="tx1"/>
                </a:solidFill>
                <a:latin typeface="Courier New"/>
              </a:rPr>
              <a:t>docker compose down -v · up -d --build</a:t>
            </a:r>
          </a:p>
        </p:txBody>
      </p:sp>
      <p:sp>
        <p:nvSpPr>
          <p:cNvPr id="31" name="Numéro Nominal 2"/>
          <p:cNvSpPr/>
          <p:nvPr/>
        </p:nvSpPr>
        <p:spPr>
          <a:xfrm>
            <a:off x="777240" y="2322576"/>
            <a:ext cx="274320" cy="274320"/>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2</a:t>
            </a:r>
          </a:p>
        </p:txBody>
      </p:sp>
      <p:sp>
        <p:nvSpPr>
          <p:cNvPr id="32" name="Étape Nominal 2"/>
          <p:cNvSpPr txBox="1"/>
          <p:nvPr/>
        </p:nvSpPr>
        <p:spPr>
          <a:xfrm>
            <a:off x="1188719" y="2304288"/>
            <a:ext cx="3108960" cy="201168"/>
          </a:xfrm>
          <a:prstGeom prst="rect">
            <a:avLst/>
          </a:prstGeom>
          <a:noFill/>
        </p:spPr>
        <p:txBody>
          <a:bodyPr wrap="square" lIns="0" tIns="0" rIns="0" bIns="0" anchor="t">
            <a:spAutoFit/>
          </a:bodyPr>
          <a:lstStyle/>
          <a:p>
            <a:pPr algn="l"/>
            <a:r>
              <a:rPr sz="1200" b="1">
                <a:solidFill>
                  <a:schemeClr val="tx2"/>
                </a:solidFill>
              </a:rPr>
              <a:t>Charger la source</a:t>
            </a:r>
          </a:p>
        </p:txBody>
      </p:sp>
      <p:sp>
        <p:nvSpPr>
          <p:cNvPr id="33" name="Détail Nominal 2"/>
          <p:cNvSpPr txBox="1"/>
          <p:nvPr/>
        </p:nvSpPr>
        <p:spPr>
          <a:xfrm>
            <a:off x="1188719" y="2496312"/>
            <a:ext cx="3108960" cy="182880"/>
          </a:xfrm>
          <a:prstGeom prst="rect">
            <a:avLst/>
          </a:prstGeom>
          <a:noFill/>
        </p:spPr>
        <p:txBody>
          <a:bodyPr wrap="square" lIns="0" tIns="0" rIns="0" bIns="0" anchor="t">
            <a:spAutoFit/>
          </a:bodyPr>
          <a:lstStyle/>
          <a:p>
            <a:pPr algn="l"/>
            <a:r>
              <a:rPr sz="1000" b="0">
                <a:solidFill>
                  <a:schemeClr val="tx1"/>
                </a:solidFill>
                <a:latin typeface="Courier New"/>
              </a:rPr>
              <a:t>psql -f /data/charger.sql</a:t>
            </a:r>
          </a:p>
        </p:txBody>
      </p:sp>
      <p:sp>
        <p:nvSpPr>
          <p:cNvPr id="34" name="Numéro Nominal 3"/>
          <p:cNvSpPr/>
          <p:nvPr/>
        </p:nvSpPr>
        <p:spPr>
          <a:xfrm>
            <a:off x="777240" y="2724912"/>
            <a:ext cx="274320" cy="274320"/>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3</a:t>
            </a:r>
          </a:p>
        </p:txBody>
      </p:sp>
      <p:sp>
        <p:nvSpPr>
          <p:cNvPr id="35" name="Étape Nominal 3"/>
          <p:cNvSpPr txBox="1"/>
          <p:nvPr/>
        </p:nvSpPr>
        <p:spPr>
          <a:xfrm>
            <a:off x="1188719" y="2706624"/>
            <a:ext cx="3108960" cy="201168"/>
          </a:xfrm>
          <a:prstGeom prst="rect">
            <a:avLst/>
          </a:prstGeom>
          <a:noFill/>
        </p:spPr>
        <p:txBody>
          <a:bodyPr wrap="square" lIns="0" tIns="0" rIns="0" bIns="0" anchor="t">
            <a:spAutoFit/>
          </a:bodyPr>
          <a:lstStyle/>
          <a:p>
            <a:pPr algn="l"/>
            <a:r>
              <a:rPr sz="1200" b="1">
                <a:solidFill>
                  <a:schemeClr val="tx2"/>
                </a:solidFill>
              </a:rPr>
              <a:t>Airbyte</a:t>
            </a:r>
          </a:p>
        </p:txBody>
      </p:sp>
      <p:sp>
        <p:nvSpPr>
          <p:cNvPr id="36" name="Détail Nominal 3"/>
          <p:cNvSpPr txBox="1"/>
          <p:nvPr/>
        </p:nvSpPr>
        <p:spPr>
          <a:xfrm>
            <a:off x="1188719" y="2898648"/>
            <a:ext cx="3108960" cy="182880"/>
          </a:xfrm>
          <a:prstGeom prst="rect">
            <a:avLst/>
          </a:prstGeom>
          <a:noFill/>
        </p:spPr>
        <p:txBody>
          <a:bodyPr wrap="square" lIns="0" tIns="0" rIns="0" bIns="0" anchor="t">
            <a:spAutoFit/>
          </a:bodyPr>
          <a:lstStyle/>
          <a:p>
            <a:pPr algn="l"/>
            <a:r>
              <a:rPr sz="1000" b="0">
                <a:solidFill>
                  <a:schemeClr val="tx1"/>
                </a:solidFill>
              </a:rPr>
              <a:t>Sync now, attendre « Succeeded »</a:t>
            </a:r>
          </a:p>
        </p:txBody>
      </p:sp>
      <p:sp>
        <p:nvSpPr>
          <p:cNvPr id="37" name="Numéro Nominal 4"/>
          <p:cNvSpPr/>
          <p:nvPr/>
        </p:nvSpPr>
        <p:spPr>
          <a:xfrm>
            <a:off x="777240" y="3127248"/>
            <a:ext cx="274320" cy="274320"/>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4</a:t>
            </a:r>
          </a:p>
        </p:txBody>
      </p:sp>
      <p:sp>
        <p:nvSpPr>
          <p:cNvPr id="38" name="Étape Nominal 4"/>
          <p:cNvSpPr txBox="1"/>
          <p:nvPr/>
        </p:nvSpPr>
        <p:spPr>
          <a:xfrm>
            <a:off x="1188719" y="3108960"/>
            <a:ext cx="3108960" cy="201168"/>
          </a:xfrm>
          <a:prstGeom prst="rect">
            <a:avLst/>
          </a:prstGeom>
          <a:noFill/>
        </p:spPr>
        <p:txBody>
          <a:bodyPr wrap="square" lIns="0" tIns="0" rIns="0" bIns="0" anchor="t">
            <a:spAutoFit/>
          </a:bodyPr>
          <a:lstStyle/>
          <a:p>
            <a:pPr algn="l"/>
            <a:r>
              <a:rPr sz="1200" b="1">
                <a:solidFill>
                  <a:schemeClr val="tx2"/>
                </a:solidFill>
              </a:rPr>
              <a:t>Dagster</a:t>
            </a:r>
          </a:p>
        </p:txBody>
      </p:sp>
      <p:sp>
        <p:nvSpPr>
          <p:cNvPr id="39" name="Détail Nominal 4"/>
          <p:cNvSpPr txBox="1"/>
          <p:nvPr/>
        </p:nvSpPr>
        <p:spPr>
          <a:xfrm>
            <a:off x="1188719" y="3300984"/>
            <a:ext cx="3108960" cy="182880"/>
          </a:xfrm>
          <a:prstGeom prst="rect">
            <a:avLst/>
          </a:prstGeom>
          <a:noFill/>
        </p:spPr>
        <p:txBody>
          <a:bodyPr wrap="square" lIns="0" tIns="0" rIns="0" bIns="0" anchor="t">
            <a:spAutoFit/>
          </a:bodyPr>
          <a:lstStyle/>
          <a:p>
            <a:pPr algn="l"/>
            <a:r>
              <a:rPr sz="1000" b="0">
                <a:solidFill>
                  <a:schemeClr val="tx1"/>
                </a:solidFill>
              </a:rPr>
              <a:t>Materialize all, attendre « Success »</a:t>
            </a:r>
          </a:p>
        </p:txBody>
      </p:sp>
      <p:sp>
        <p:nvSpPr>
          <p:cNvPr id="40" name="Numéro Nominal 5"/>
          <p:cNvSpPr/>
          <p:nvPr/>
        </p:nvSpPr>
        <p:spPr>
          <a:xfrm>
            <a:off x="777240" y="3529584"/>
            <a:ext cx="274320" cy="274320"/>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5</a:t>
            </a:r>
          </a:p>
        </p:txBody>
      </p:sp>
      <p:sp>
        <p:nvSpPr>
          <p:cNvPr id="41" name="Étape Nominal 5"/>
          <p:cNvSpPr txBox="1"/>
          <p:nvPr/>
        </p:nvSpPr>
        <p:spPr>
          <a:xfrm>
            <a:off x="1188719" y="3511296"/>
            <a:ext cx="3108960" cy="201168"/>
          </a:xfrm>
          <a:prstGeom prst="rect">
            <a:avLst/>
          </a:prstGeom>
          <a:noFill/>
        </p:spPr>
        <p:txBody>
          <a:bodyPr wrap="square" lIns="0" tIns="0" rIns="0" bIns="0" anchor="t">
            <a:spAutoFit/>
          </a:bodyPr>
          <a:lstStyle/>
          <a:p>
            <a:pPr algn="l"/>
            <a:r>
              <a:rPr sz="1200" b="1">
                <a:solidFill>
                  <a:schemeClr val="tx2"/>
                </a:solidFill>
              </a:rPr>
              <a:t>Vérifier</a:t>
            </a:r>
          </a:p>
        </p:txBody>
      </p:sp>
      <p:sp>
        <p:nvSpPr>
          <p:cNvPr id="42" name="Détail Nominal 5"/>
          <p:cNvSpPr txBox="1"/>
          <p:nvPr/>
        </p:nvSpPr>
        <p:spPr>
          <a:xfrm>
            <a:off x="1188719" y="3703320"/>
            <a:ext cx="3108960" cy="182880"/>
          </a:xfrm>
          <a:prstGeom prst="rect">
            <a:avLst/>
          </a:prstGeom>
          <a:noFill/>
        </p:spPr>
        <p:txBody>
          <a:bodyPr wrap="square" lIns="0" tIns="0" rIns="0" bIns="0" anchor="t">
            <a:spAutoFit/>
          </a:bodyPr>
          <a:lstStyle/>
          <a:p>
            <a:pPr algn="l"/>
            <a:r>
              <a:rPr sz="1000" b="0">
                <a:solidFill>
                  <a:schemeClr val="tx1"/>
                </a:solidFill>
                <a:latin typeface="Courier New"/>
              </a:rPr>
              <a:t>psql -f /tests/verification.sql</a:t>
            </a:r>
          </a:p>
        </p:txBody>
      </p:sp>
      <p:sp>
        <p:nvSpPr>
          <p:cNvPr id="43" name="Résultat attendu Nominal"/>
          <p:cNvSpPr/>
          <p:nvPr/>
        </p:nvSpPr>
        <p:spPr>
          <a:xfrm>
            <a:off x="731520" y="3931920"/>
            <a:ext cx="3566160" cy="475488"/>
          </a:xfrm>
          <a:prstGeom prst="roundRect">
            <a:avLst>
              <a:gd name="adj" fmla="val 12000"/>
            </a:avLst>
          </a:prstGeom>
          <a:solidFill>
            <a:schemeClr val="accent2">
              <a:alpha val="15000"/>
            </a:schemeClr>
          </a:solidFill>
          <a:ln>
            <a:noFill/>
          </a:ln>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r>
              <a:rPr sz="1100" b="1">
                <a:solidFill>
                  <a:schemeClr val="tx2"/>
                </a:solidFill>
              </a:rPr>
              <a:t>Attendu : structures 20 · consultations 2 000 · prestations = source · rejets 0</a:t>
            </a:r>
          </a:p>
        </p:txBody>
      </p:sp>
      <p:sp>
        <p:nvSpPr>
          <p:cNvPr id="44" name="Carte Erreurs"/>
          <p:cNvSpPr/>
          <p:nvPr/>
        </p:nvSpPr>
        <p:spPr>
          <a:xfrm>
            <a:off x="4663440" y="1325880"/>
            <a:ext cx="3931920" cy="3200400"/>
          </a:xfrm>
          <a:prstGeom prst="roundRect">
            <a:avLst>
              <a:gd name="adj" fmla="val 5000"/>
            </a:avLst>
          </a:prstGeom>
          <a:solidFill>
            <a:schemeClr val="bg2"/>
          </a:solidFill>
          <a:ln w="9525">
            <a:solidFill>
              <a:schemeClr val="accent5"/>
            </a:solidFill>
          </a:ln>
          <a:effectLst>
            <a:outerShdw blurRad="76200" dist="25400" dir="5400000" algn="bl" rotWithShape="0">
              <a:srgbClr val="0F172A">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itre Erreurs"/>
          <p:cNvSpPr txBox="1"/>
          <p:nvPr/>
        </p:nvSpPr>
        <p:spPr>
          <a:xfrm>
            <a:off x="4892040" y="1463040"/>
            <a:ext cx="3520440" cy="292608"/>
          </a:xfrm>
          <a:prstGeom prst="rect">
            <a:avLst/>
          </a:prstGeom>
          <a:noFill/>
        </p:spPr>
        <p:txBody>
          <a:bodyPr wrap="square" lIns="0" tIns="0" rIns="0" bIns="0" anchor="t">
            <a:spAutoFit/>
          </a:bodyPr>
          <a:lstStyle/>
          <a:p>
            <a:pPr algn="l"/>
            <a:r>
              <a:rPr sz="1600" b="1">
                <a:solidFill>
                  <a:schemeClr val="tx2"/>
                </a:solidFill>
              </a:rPr>
              <a:t>Scénario d’erreurs</a:t>
            </a:r>
            <a:r>
              <a:rPr sz="1200" b="0">
                <a:solidFill>
                  <a:schemeClr val="tx1"/>
                </a:solidFill>
              </a:rPr>
              <a:t>  ·  données dégradées</a:t>
            </a:r>
          </a:p>
        </p:txBody>
      </p:sp>
      <p:sp>
        <p:nvSpPr>
          <p:cNvPr id="46" name="Numéro Erreurs 1"/>
          <p:cNvSpPr/>
          <p:nvPr/>
        </p:nvSpPr>
        <p:spPr>
          <a:xfrm>
            <a:off x="4892040" y="1920240"/>
            <a:ext cx="274320" cy="274320"/>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1</a:t>
            </a:r>
          </a:p>
        </p:txBody>
      </p:sp>
      <p:sp>
        <p:nvSpPr>
          <p:cNvPr id="47" name="Étape Erreurs 1"/>
          <p:cNvSpPr txBox="1"/>
          <p:nvPr/>
        </p:nvSpPr>
        <p:spPr>
          <a:xfrm>
            <a:off x="5303520" y="1901952"/>
            <a:ext cx="3108960" cy="201168"/>
          </a:xfrm>
          <a:prstGeom prst="rect">
            <a:avLst/>
          </a:prstGeom>
          <a:noFill/>
        </p:spPr>
        <p:txBody>
          <a:bodyPr wrap="square" lIns="0" tIns="0" rIns="0" bIns="0" anchor="t">
            <a:spAutoFit/>
          </a:bodyPr>
          <a:lstStyle/>
          <a:p>
            <a:pPr algn="l"/>
            <a:r>
              <a:rPr sz="1200" b="1">
                <a:solidFill>
                  <a:schemeClr val="tx2"/>
                </a:solidFill>
              </a:rPr>
              <a:t>Charger les données dégradées</a:t>
            </a:r>
          </a:p>
        </p:txBody>
      </p:sp>
      <p:sp>
        <p:nvSpPr>
          <p:cNvPr id="48" name="Détail Erreurs 1"/>
          <p:cNvSpPr txBox="1"/>
          <p:nvPr/>
        </p:nvSpPr>
        <p:spPr>
          <a:xfrm>
            <a:off x="5303520" y="2093976"/>
            <a:ext cx="3108960" cy="182880"/>
          </a:xfrm>
          <a:prstGeom prst="rect">
            <a:avLst/>
          </a:prstGeom>
          <a:noFill/>
        </p:spPr>
        <p:txBody>
          <a:bodyPr wrap="square" lIns="0" tIns="0" rIns="0" bIns="0" anchor="t">
            <a:spAutoFit/>
          </a:bodyPr>
          <a:lstStyle/>
          <a:p>
            <a:pPr algn="l"/>
            <a:r>
              <a:rPr sz="1000" b="0">
                <a:solidFill>
                  <a:schemeClr val="tx1"/>
                </a:solidFill>
                <a:latin typeface="Courier New"/>
              </a:rPr>
              <a:t>psql -f /data/erreurs/charger.sql</a:t>
            </a:r>
          </a:p>
        </p:txBody>
      </p:sp>
      <p:sp>
        <p:nvSpPr>
          <p:cNvPr id="49" name="Numéro Erreurs 2"/>
          <p:cNvSpPr/>
          <p:nvPr/>
        </p:nvSpPr>
        <p:spPr>
          <a:xfrm>
            <a:off x="4892040" y="2322576"/>
            <a:ext cx="274320" cy="274320"/>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2</a:t>
            </a:r>
          </a:p>
        </p:txBody>
      </p:sp>
      <p:sp>
        <p:nvSpPr>
          <p:cNvPr id="50" name="Étape Erreurs 2"/>
          <p:cNvSpPr txBox="1"/>
          <p:nvPr/>
        </p:nvSpPr>
        <p:spPr>
          <a:xfrm>
            <a:off x="5303520" y="2304288"/>
            <a:ext cx="3108960" cy="201168"/>
          </a:xfrm>
          <a:prstGeom prst="rect">
            <a:avLst/>
          </a:prstGeom>
          <a:noFill/>
        </p:spPr>
        <p:txBody>
          <a:bodyPr wrap="square" lIns="0" tIns="0" rIns="0" bIns="0" anchor="t">
            <a:spAutoFit/>
          </a:bodyPr>
          <a:lstStyle/>
          <a:p>
            <a:pPr algn="l"/>
            <a:r>
              <a:rPr sz="1200" b="1">
                <a:solidFill>
                  <a:schemeClr val="tx2"/>
                </a:solidFill>
              </a:rPr>
              <a:t>Airbyte</a:t>
            </a:r>
          </a:p>
        </p:txBody>
      </p:sp>
      <p:sp>
        <p:nvSpPr>
          <p:cNvPr id="51" name="Détail Erreurs 2"/>
          <p:cNvSpPr txBox="1"/>
          <p:nvPr/>
        </p:nvSpPr>
        <p:spPr>
          <a:xfrm>
            <a:off x="5303520" y="2496312"/>
            <a:ext cx="3108960" cy="182880"/>
          </a:xfrm>
          <a:prstGeom prst="rect">
            <a:avLst/>
          </a:prstGeom>
          <a:noFill/>
        </p:spPr>
        <p:txBody>
          <a:bodyPr wrap="square" lIns="0" tIns="0" rIns="0" bIns="0" anchor="t">
            <a:spAutoFit/>
          </a:bodyPr>
          <a:lstStyle/>
          <a:p>
            <a:pPr algn="l"/>
            <a:r>
              <a:rPr sz="1000" b="0">
                <a:solidFill>
                  <a:schemeClr val="tx1"/>
                </a:solidFill>
              </a:rPr>
              <a:t>Sync now, attendre « Succeeded »</a:t>
            </a:r>
          </a:p>
        </p:txBody>
      </p:sp>
      <p:sp>
        <p:nvSpPr>
          <p:cNvPr id="52" name="Numéro Erreurs 3"/>
          <p:cNvSpPr/>
          <p:nvPr/>
        </p:nvSpPr>
        <p:spPr>
          <a:xfrm>
            <a:off x="4892040" y="2724912"/>
            <a:ext cx="274320" cy="274320"/>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3</a:t>
            </a:r>
          </a:p>
        </p:txBody>
      </p:sp>
      <p:sp>
        <p:nvSpPr>
          <p:cNvPr id="53" name="Étape Erreurs 3"/>
          <p:cNvSpPr txBox="1"/>
          <p:nvPr/>
        </p:nvSpPr>
        <p:spPr>
          <a:xfrm>
            <a:off x="5303520" y="2706624"/>
            <a:ext cx="3108960" cy="201168"/>
          </a:xfrm>
          <a:prstGeom prst="rect">
            <a:avLst/>
          </a:prstGeom>
          <a:noFill/>
        </p:spPr>
        <p:txBody>
          <a:bodyPr wrap="square" lIns="0" tIns="0" rIns="0" bIns="0" anchor="t">
            <a:spAutoFit/>
          </a:bodyPr>
          <a:lstStyle/>
          <a:p>
            <a:pPr algn="l"/>
            <a:r>
              <a:rPr sz="1200" b="1">
                <a:solidFill>
                  <a:schemeClr val="tx2"/>
                </a:solidFill>
              </a:rPr>
              <a:t>Dagster</a:t>
            </a:r>
          </a:p>
        </p:txBody>
      </p:sp>
      <p:sp>
        <p:nvSpPr>
          <p:cNvPr id="54" name="Détail Erreurs 3"/>
          <p:cNvSpPr txBox="1"/>
          <p:nvPr/>
        </p:nvSpPr>
        <p:spPr>
          <a:xfrm>
            <a:off x="5303520" y="2898648"/>
            <a:ext cx="3108960" cy="182880"/>
          </a:xfrm>
          <a:prstGeom prst="rect">
            <a:avLst/>
          </a:prstGeom>
          <a:noFill/>
        </p:spPr>
        <p:txBody>
          <a:bodyPr wrap="square" lIns="0" tIns="0" rIns="0" bIns="0" anchor="t">
            <a:spAutoFit/>
          </a:bodyPr>
          <a:lstStyle/>
          <a:p>
            <a:pPr algn="l"/>
            <a:r>
              <a:rPr sz="1000" b="0">
                <a:solidFill>
                  <a:schemeClr val="tx1"/>
                </a:solidFill>
              </a:rPr>
              <a:t>Materialize all, attendre « Success »</a:t>
            </a:r>
          </a:p>
        </p:txBody>
      </p:sp>
      <p:sp>
        <p:nvSpPr>
          <p:cNvPr id="55" name="Numéro Erreurs 4"/>
          <p:cNvSpPr/>
          <p:nvPr/>
        </p:nvSpPr>
        <p:spPr>
          <a:xfrm>
            <a:off x="4892040" y="3127248"/>
            <a:ext cx="274320" cy="274320"/>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4</a:t>
            </a:r>
          </a:p>
        </p:txBody>
      </p:sp>
      <p:sp>
        <p:nvSpPr>
          <p:cNvPr id="56" name="Étape Erreurs 4"/>
          <p:cNvSpPr txBox="1"/>
          <p:nvPr/>
        </p:nvSpPr>
        <p:spPr>
          <a:xfrm>
            <a:off x="5303520" y="3108960"/>
            <a:ext cx="3108960" cy="201168"/>
          </a:xfrm>
          <a:prstGeom prst="rect">
            <a:avLst/>
          </a:prstGeom>
          <a:noFill/>
        </p:spPr>
        <p:txBody>
          <a:bodyPr wrap="square" lIns="0" tIns="0" rIns="0" bIns="0" anchor="t">
            <a:spAutoFit/>
          </a:bodyPr>
          <a:lstStyle/>
          <a:p>
            <a:pPr algn="l"/>
            <a:r>
              <a:rPr sz="1200" b="1">
                <a:solidFill>
                  <a:schemeClr val="tx2"/>
                </a:solidFill>
              </a:rPr>
              <a:t>Vérifier</a:t>
            </a:r>
          </a:p>
        </p:txBody>
      </p:sp>
      <p:sp>
        <p:nvSpPr>
          <p:cNvPr id="57" name="Détail Erreurs 4"/>
          <p:cNvSpPr txBox="1"/>
          <p:nvPr/>
        </p:nvSpPr>
        <p:spPr>
          <a:xfrm>
            <a:off x="5303520" y="3300984"/>
            <a:ext cx="3108960" cy="182880"/>
          </a:xfrm>
          <a:prstGeom prst="rect">
            <a:avLst/>
          </a:prstGeom>
          <a:noFill/>
        </p:spPr>
        <p:txBody>
          <a:bodyPr wrap="square" lIns="0" tIns="0" rIns="0" bIns="0" anchor="t">
            <a:spAutoFit/>
          </a:bodyPr>
          <a:lstStyle/>
          <a:p>
            <a:pPr algn="l"/>
            <a:r>
              <a:rPr sz="1000" b="0">
                <a:solidFill>
                  <a:schemeClr val="tx1"/>
                </a:solidFill>
                <a:latin typeface="Courier New"/>
              </a:rPr>
              <a:t>psql -f /tests/verification.sql</a:t>
            </a:r>
          </a:p>
        </p:txBody>
      </p:sp>
      <p:sp>
        <p:nvSpPr>
          <p:cNvPr id="58" name="Numéro Erreurs 5"/>
          <p:cNvSpPr/>
          <p:nvPr/>
        </p:nvSpPr>
        <p:spPr>
          <a:xfrm>
            <a:off x="4892040" y="3529584"/>
            <a:ext cx="274320" cy="274320"/>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5</a:t>
            </a:r>
          </a:p>
        </p:txBody>
      </p:sp>
      <p:sp>
        <p:nvSpPr>
          <p:cNvPr id="59" name="Étape Erreurs 5"/>
          <p:cNvSpPr txBox="1"/>
          <p:nvPr/>
        </p:nvSpPr>
        <p:spPr>
          <a:xfrm>
            <a:off x="5303520" y="3511296"/>
            <a:ext cx="3108960" cy="201168"/>
          </a:xfrm>
          <a:prstGeom prst="rect">
            <a:avLst/>
          </a:prstGeom>
          <a:noFill/>
        </p:spPr>
        <p:txBody>
          <a:bodyPr wrap="square" lIns="0" tIns="0" rIns="0" bIns="0" anchor="t">
            <a:spAutoFit/>
          </a:bodyPr>
          <a:lstStyle/>
          <a:p>
            <a:pPr algn="l"/>
            <a:r>
              <a:rPr sz="1200" b="1">
                <a:solidFill>
                  <a:schemeClr val="tx2"/>
                </a:solidFill>
              </a:rPr>
              <a:t>Rapport des rejets</a:t>
            </a:r>
          </a:p>
        </p:txBody>
      </p:sp>
      <p:sp>
        <p:nvSpPr>
          <p:cNvPr id="60" name="Détail Erreurs 5"/>
          <p:cNvSpPr txBox="1"/>
          <p:nvPr/>
        </p:nvSpPr>
        <p:spPr>
          <a:xfrm>
            <a:off x="5303520" y="3703320"/>
            <a:ext cx="3108960" cy="182880"/>
          </a:xfrm>
          <a:prstGeom prst="rect">
            <a:avLst/>
          </a:prstGeom>
          <a:noFill/>
        </p:spPr>
        <p:txBody>
          <a:bodyPr wrap="square" lIns="0" tIns="0" rIns="0" bIns="0" anchor="t">
            <a:spAutoFit/>
          </a:bodyPr>
          <a:lstStyle/>
          <a:p>
            <a:pPr algn="l"/>
            <a:r>
              <a:rPr sz="1000" b="0">
                <a:solidFill>
                  <a:schemeClr val="tx1"/>
                </a:solidFill>
                <a:latin typeface="Courier New"/>
              </a:rPr>
              <a:t>localhost:8001/rejets/resume</a:t>
            </a:r>
          </a:p>
        </p:txBody>
      </p:sp>
      <p:sp>
        <p:nvSpPr>
          <p:cNvPr id="61" name="Résultat attendu Erreurs"/>
          <p:cNvSpPr/>
          <p:nvPr/>
        </p:nvSpPr>
        <p:spPr>
          <a:xfrm>
            <a:off x="4846320" y="3931920"/>
            <a:ext cx="3566160" cy="475488"/>
          </a:xfrm>
          <a:prstGeom prst="roundRect">
            <a:avLst>
              <a:gd name="adj" fmla="val 12000"/>
            </a:avLst>
          </a:prstGeom>
          <a:solidFill>
            <a:schemeClr val="accent3">
              <a:alpha val="15000"/>
            </a:schemeClr>
          </a:solidFill>
          <a:ln>
            <a:noFill/>
          </a:ln>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l"/>
            <a:r>
              <a:rPr sz="1100" b="1">
                <a:solidFill>
                  <a:schemeClr val="tx2"/>
                </a:solidFill>
              </a:rPr>
              <a:t>Attendu : 2 000 consultations · 40 rejets au dernier run · 8 lignes de 5 rejets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Test 1 : le scénario nominal</a:t>
            </a:r>
            <a:endParaRPr lang="en-US" sz="3400" dirty="0"/>
          </a:p>
        </p:txBody>
      </p:sp>
      <p:sp>
        <p:nvSpPr>
          <p:cNvPr id="4" name="KPI structures chargées"/>
          <p:cNvSpPr/>
          <p:nvPr/>
        </p:nvSpPr>
        <p:spPr>
          <a:xfrm>
            <a:off x="548640" y="1325880"/>
            <a:ext cx="1874519" cy="1188720"/>
          </a:xfrm>
          <a:prstGeom prst="roundRect">
            <a:avLst>
              <a:gd name="adj" fmla="val 7692"/>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Text 2"/>
          <p:cNvSpPr txBox="1"/>
          <p:nvPr/>
        </p:nvSpPr>
        <p:spPr>
          <a:xfrm>
            <a:off x="731520" y="1417320"/>
            <a:ext cx="1554480" cy="68580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20</a:t>
            </a:r>
            <a:endParaRPr lang="en-US" sz="3800" dirty="0"/>
          </a:p>
        </p:txBody>
      </p:sp>
      <p:sp>
        <p:nvSpPr>
          <p:cNvPr id="6" name="Text 3"/>
          <p:cNvSpPr txBox="1"/>
          <p:nvPr/>
        </p:nvSpPr>
        <p:spPr>
          <a:xfrm>
            <a:off x="731520" y="2103120"/>
            <a:ext cx="1600200" cy="274320"/>
          </a:xfrm>
          <a:prstGeom prst="rect">
            <a:avLst/>
          </a:prstGeom>
          <a:noFill/>
          <a:ln/>
        </p:spPr>
        <p:txBody>
          <a:bodyPr wrap="square" lIns="0" tIns="0" rIns="0" bIns="0" rtlCol="0" anchor="t"/>
          <a:lstStyle/>
          <a:p>
            <a:pPr marL="0" indent="0">
              <a:buNone/>
            </a:pPr>
            <a:r>
              <a:rPr lang="en-US" sz="1400" dirty="0">
                <a:solidFill>
                  <a:schemeClr val="tx1"/>
                </a:solidFill>
              </a:rPr>
              <a:t>structures</a:t>
            </a:r>
            <a:endParaRPr lang="en-US" sz="1400" dirty="0"/>
          </a:p>
        </p:txBody>
      </p:sp>
      <p:sp>
        <p:nvSpPr>
          <p:cNvPr id="7" name="KPI consultations chargées"/>
          <p:cNvSpPr/>
          <p:nvPr/>
        </p:nvSpPr>
        <p:spPr>
          <a:xfrm>
            <a:off x="2606040" y="1325880"/>
            <a:ext cx="1874519" cy="1188720"/>
          </a:xfrm>
          <a:prstGeom prst="roundRect">
            <a:avLst>
              <a:gd name="adj" fmla="val 7692"/>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27" name="KPI prestations chargées"/>
          <p:cNvSpPr/>
          <p:nvPr/>
        </p:nvSpPr>
        <p:spPr>
          <a:xfrm>
            <a:off x="4663440" y="1325880"/>
            <a:ext cx="1874519" cy="1188720"/>
          </a:xfrm>
          <a:prstGeom prst="roundRect">
            <a:avLst>
              <a:gd name="adj" fmla="val 7692"/>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8" name="Text 5"/>
          <p:cNvSpPr txBox="1"/>
          <p:nvPr/>
        </p:nvSpPr>
        <p:spPr>
          <a:xfrm>
            <a:off x="2788920" y="1417320"/>
            <a:ext cx="1554480" cy="68580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2 000</a:t>
            </a:r>
            <a:endParaRPr lang="en-US" sz="3800" dirty="0"/>
          </a:p>
        </p:txBody>
      </p:sp>
      <p:sp>
        <p:nvSpPr>
          <p:cNvPr id="28" name="Text 5b"/>
          <p:cNvSpPr txBox="1"/>
          <p:nvPr/>
        </p:nvSpPr>
        <p:spPr>
          <a:xfrm>
            <a:off x="4846320" y="1417320"/>
            <a:ext cx="1554480" cy="68580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4 031</a:t>
            </a:r>
            <a:endParaRPr lang="en-US" sz="3800" dirty="0"/>
          </a:p>
        </p:txBody>
      </p:sp>
      <p:sp>
        <p:nvSpPr>
          <p:cNvPr id="9" name="Text 6"/>
          <p:cNvSpPr txBox="1"/>
          <p:nvPr/>
        </p:nvSpPr>
        <p:spPr>
          <a:xfrm>
            <a:off x="2788920" y="2103120"/>
            <a:ext cx="1600200" cy="274320"/>
          </a:xfrm>
          <a:prstGeom prst="rect">
            <a:avLst/>
          </a:prstGeom>
          <a:noFill/>
          <a:ln/>
        </p:spPr>
        <p:txBody>
          <a:bodyPr wrap="square" lIns="0" tIns="0" rIns="0" bIns="0" rtlCol="0" anchor="t"/>
          <a:lstStyle/>
          <a:p>
            <a:pPr marL="0" indent="0">
              <a:buNone/>
            </a:pPr>
            <a:r>
              <a:rPr lang="en-US" sz="1400" dirty="0">
                <a:solidFill>
                  <a:schemeClr val="tx1"/>
                </a:solidFill>
              </a:rPr>
              <a:t>consultations</a:t>
            </a:r>
            <a:endParaRPr lang="en-US" sz="1400" dirty="0"/>
          </a:p>
        </p:txBody>
      </p:sp>
      <p:sp>
        <p:nvSpPr>
          <p:cNvPr id="29" name="Text 6b"/>
          <p:cNvSpPr txBox="1"/>
          <p:nvPr/>
        </p:nvSpPr>
        <p:spPr>
          <a:xfrm>
            <a:off x="4846320" y="2103120"/>
            <a:ext cx="1600200" cy="274320"/>
          </a:xfrm>
          <a:prstGeom prst="rect">
            <a:avLst/>
          </a:prstGeom>
          <a:noFill/>
          <a:ln/>
        </p:spPr>
        <p:txBody>
          <a:bodyPr wrap="square" lIns="0" tIns="0" rIns="0" bIns="0" rtlCol="0" anchor="t"/>
          <a:lstStyle/>
          <a:p>
            <a:pPr marL="0" indent="0">
              <a:buNone/>
            </a:pPr>
            <a:r>
              <a:rPr lang="en-US" sz="1400" dirty="0">
                <a:solidFill>
                  <a:schemeClr val="tx1"/>
                </a:solidFill>
              </a:rPr>
              <a:t>prestations</a:t>
            </a:r>
            <a:endParaRPr lang="en-US" sz="1400" dirty="0"/>
          </a:p>
        </p:txBody>
      </p:sp>
      <p:sp>
        <p:nvSpPr>
          <p:cNvPr id="10" name="KPI rejet"/>
          <p:cNvSpPr/>
          <p:nvPr/>
        </p:nvSpPr>
        <p:spPr>
          <a:xfrm>
            <a:off x="6720840" y="1325880"/>
            <a:ext cx="1874519" cy="1188720"/>
          </a:xfrm>
          <a:prstGeom prst="roundRect">
            <a:avLst>
              <a:gd name="adj" fmla="val 7692"/>
            </a:avLst>
          </a:prstGeom>
          <a:solidFill>
            <a:schemeClr val="accent2">
              <a:alpha val="15000"/>
            </a:schemeClr>
          </a:solidFill>
          <a:ln w="9525">
            <a:solidFill>
              <a:schemeClr val="accent5"/>
            </a:solidFill>
            <a:prstDash val="solid"/>
          </a:ln>
          <a:effectLst>
            <a:outerShdw blurRad="76200" dist="25400" dir="5400000" algn="bl" rotWithShape="0">
              <a:srgbClr val="0F172A">
                <a:alpha val="7000"/>
              </a:srgbClr>
            </a:outerShdw>
          </a:effectLst>
        </p:spPr>
      </p:sp>
      <p:sp>
        <p:nvSpPr>
          <p:cNvPr id="11" name="Text 8"/>
          <p:cNvSpPr txBox="1"/>
          <p:nvPr/>
        </p:nvSpPr>
        <p:spPr>
          <a:xfrm>
            <a:off x="6903720" y="1417320"/>
            <a:ext cx="1554480" cy="68580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0</a:t>
            </a:r>
            <a:endParaRPr lang="en-US" sz="3800" dirty="0"/>
          </a:p>
        </p:txBody>
      </p:sp>
      <p:sp>
        <p:nvSpPr>
          <p:cNvPr id="12" name="Text 9"/>
          <p:cNvSpPr txBox="1"/>
          <p:nvPr/>
        </p:nvSpPr>
        <p:spPr>
          <a:xfrm>
            <a:off x="6903720" y="2103120"/>
            <a:ext cx="1600200" cy="274320"/>
          </a:xfrm>
          <a:prstGeom prst="rect">
            <a:avLst/>
          </a:prstGeom>
          <a:noFill/>
          <a:ln/>
        </p:spPr>
        <p:txBody>
          <a:bodyPr wrap="square" lIns="0" tIns="0" rIns="0" bIns="0" rtlCol="0" anchor="t"/>
          <a:lstStyle/>
          <a:p>
            <a:pPr marL="0" indent="0">
              <a:buNone/>
            </a:pPr>
            <a:r>
              <a:rPr lang="en-US" sz="1400" dirty="0">
                <a:solidFill>
                  <a:schemeClr val="tx1"/>
                </a:solidFill>
              </a:rPr>
              <a:t>rejets</a:t>
            </a:r>
            <a:endParaRPr lang="en-US" sz="1400" dirty="0"/>
          </a:p>
        </p:txBody>
      </p:sp>
      <p:sp>
        <p:nvSpPr>
          <p:cNvPr id="13" name="Cadre 19"/>
          <p:cNvSpPr/>
          <p:nvPr/>
        </p:nvSpPr>
        <p:spPr>
          <a:xfrm>
            <a:off x="548640" y="2697480"/>
            <a:ext cx="8046720" cy="1828800"/>
          </a:xfrm>
          <a:prstGeom prst="roundRect">
            <a:avLst>
              <a:gd name="adj" fmla="val 5000"/>
            </a:avLst>
          </a:prstGeom>
          <a:solidFill>
            <a:schemeClr val="bg2"/>
          </a:solidFill>
          <a:ln w="12700">
            <a:solidFill>
              <a:schemeClr val="accent5"/>
            </a:solidFill>
            <a:prstDash val="solid"/>
          </a:ln>
        </p:spPr>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12</a:t>
            </a:fld>
            <a:endParaRPr lang="en-US"/>
          </a:p>
        </p:txBody>
      </p:sp>
      <p:pic>
        <p:nvPicPr>
          <p:cNvPr id="26" name="Capture 19" descr="Résultat de verification.sql : 20 structures, 2000 consultations, 4031 prestations, 0 rejet"/>
          <p:cNvPicPr>
            <a:picLocks noChangeAspect="1"/>
          </p:cNvPicPr>
          <p:nvPr/>
        </p:nvPicPr>
        <p:blipFill>
          <a:blip r:embed="rId3"/>
          <a:stretch>
            <a:fillRect/>
          </a:stretch>
        </p:blipFill>
        <p:spPr>
          <a:xfrm>
            <a:off x="1373988" y="2779776"/>
            <a:ext cx="6396023" cy="1664208"/>
          </a:xfrm>
          <a:prstGeom prst="rect">
            <a:avLst/>
          </a:prstGeom>
          <a:ln w="9525">
            <a:solidFill>
              <a:schemeClr val="accent5"/>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Test 2 : des données dégradées</a:t>
            </a:r>
            <a:endParaRPr lang="en-US" sz="3400" dirty="0"/>
          </a:p>
        </p:txBody>
      </p:sp>
      <p:sp>
        <p:nvSpPr>
          <p:cNvPr id="4" name="Anomalie Identifiants en double"/>
          <p:cNvSpPr/>
          <p:nvPr/>
        </p:nvSpPr>
        <p:spPr>
          <a:xfrm>
            <a:off x="548640" y="1325880"/>
            <a:ext cx="1828800" cy="1234440"/>
          </a:xfrm>
          <a:prstGeom prst="roundRect">
            <a:avLst>
              <a:gd name="adj" fmla="val 7407"/>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Text 2"/>
          <p:cNvSpPr txBox="1"/>
          <p:nvPr/>
        </p:nvSpPr>
        <p:spPr>
          <a:xfrm>
            <a:off x="685800" y="1463040"/>
            <a:ext cx="1554480" cy="502920"/>
          </a:xfrm>
          <a:prstGeom prst="rect">
            <a:avLst/>
          </a:prstGeom>
          <a:noFill/>
          <a:ln/>
        </p:spPr>
        <p:txBody>
          <a:bodyPr wrap="square" lIns="0" tIns="0" rIns="0" bIns="0" rtlCol="0" anchor="t"/>
          <a:lstStyle/>
          <a:p>
            <a:pPr marL="0" indent="0">
              <a:buNone/>
            </a:pPr>
            <a:r>
              <a:rPr lang="en-US" sz="1400" b="1" dirty="0">
                <a:solidFill>
                  <a:schemeClr val="tx2"/>
                </a:solidFill>
              </a:rPr>
              <a:t>Identifiants en double</a:t>
            </a:r>
            <a:endParaRPr lang="en-US" sz="1400" dirty="0"/>
          </a:p>
        </p:txBody>
      </p:sp>
      <p:sp>
        <p:nvSpPr>
          <p:cNvPr id="6" name="Text 3"/>
          <p:cNvSpPr txBox="1"/>
          <p:nvPr/>
        </p:nvSpPr>
        <p:spPr>
          <a:xfrm>
            <a:off x="685800" y="2103120"/>
            <a:ext cx="1554480" cy="274320"/>
          </a:xfrm>
          <a:prstGeom prst="rect">
            <a:avLst/>
          </a:prstGeom>
          <a:noFill/>
          <a:ln/>
        </p:spPr>
        <p:txBody>
          <a:bodyPr wrap="square" lIns="0" tIns="0" rIns="0" bIns="0" rtlCol="0" anchor="t"/>
          <a:lstStyle/>
          <a:p>
            <a:pPr marL="0" indent="0">
              <a:buNone/>
            </a:pPr>
            <a:r>
              <a:rPr lang="en-US" sz="1400" dirty="0">
                <a:solidFill>
                  <a:schemeClr val="tx1"/>
                </a:solidFill>
              </a:rPr>
              <a:t>5 par table</a:t>
            </a:r>
            <a:endParaRPr lang="en-US" sz="1400" dirty="0"/>
          </a:p>
        </p:txBody>
      </p:sp>
      <p:sp>
        <p:nvSpPr>
          <p:cNvPr id="7" name="Anomalie Dates dans le futur"/>
          <p:cNvSpPr/>
          <p:nvPr/>
        </p:nvSpPr>
        <p:spPr>
          <a:xfrm>
            <a:off x="2514600" y="1325880"/>
            <a:ext cx="1828800" cy="1234440"/>
          </a:xfrm>
          <a:prstGeom prst="roundRect">
            <a:avLst>
              <a:gd name="adj" fmla="val 7407"/>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8" name="Text 5"/>
          <p:cNvSpPr txBox="1"/>
          <p:nvPr/>
        </p:nvSpPr>
        <p:spPr>
          <a:xfrm>
            <a:off x="2651760" y="1463040"/>
            <a:ext cx="1554480" cy="502920"/>
          </a:xfrm>
          <a:prstGeom prst="rect">
            <a:avLst/>
          </a:prstGeom>
          <a:noFill/>
          <a:ln/>
        </p:spPr>
        <p:txBody>
          <a:bodyPr wrap="square" lIns="0" tIns="0" rIns="0" bIns="0" rtlCol="0" anchor="t"/>
          <a:lstStyle/>
          <a:p>
            <a:pPr marL="0" indent="0">
              <a:buNone/>
            </a:pPr>
            <a:r>
              <a:rPr lang="en-US" sz="1400" b="1" dirty="0">
                <a:solidFill>
                  <a:schemeClr val="tx2"/>
                </a:solidFill>
              </a:rPr>
              <a:t>Dates dans le futur</a:t>
            </a:r>
            <a:endParaRPr lang="en-US" sz="1400" dirty="0"/>
          </a:p>
        </p:txBody>
      </p:sp>
      <p:sp>
        <p:nvSpPr>
          <p:cNvPr id="9" name="Text 6"/>
          <p:cNvSpPr txBox="1"/>
          <p:nvPr/>
        </p:nvSpPr>
        <p:spPr>
          <a:xfrm>
            <a:off x="2651760" y="2103120"/>
            <a:ext cx="1554480" cy="274320"/>
          </a:xfrm>
          <a:prstGeom prst="rect">
            <a:avLst/>
          </a:prstGeom>
          <a:noFill/>
          <a:ln/>
        </p:spPr>
        <p:txBody>
          <a:bodyPr wrap="square" lIns="0" tIns="0" rIns="0" bIns="0" rtlCol="0" anchor="t"/>
          <a:lstStyle/>
          <a:p>
            <a:pPr marL="0" indent="0">
              <a:buNone/>
            </a:pPr>
            <a:r>
              <a:rPr lang="en-US" sz="1400" dirty="0">
                <a:solidFill>
                  <a:schemeClr val="tx1"/>
                </a:solidFill>
              </a:rPr>
              <a:t>5 par table</a:t>
            </a:r>
            <a:endParaRPr lang="en-US" sz="1400" dirty="0"/>
          </a:p>
        </p:txBody>
      </p:sp>
      <p:sp>
        <p:nvSpPr>
          <p:cNvPr id="10" name="Anomalie Champs obligatoires vides"/>
          <p:cNvSpPr/>
          <p:nvPr/>
        </p:nvSpPr>
        <p:spPr>
          <a:xfrm>
            <a:off x="548640" y="2697480"/>
            <a:ext cx="1828800" cy="1234440"/>
          </a:xfrm>
          <a:prstGeom prst="roundRect">
            <a:avLst>
              <a:gd name="adj" fmla="val 7407"/>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1" name="Text 8"/>
          <p:cNvSpPr txBox="1"/>
          <p:nvPr/>
        </p:nvSpPr>
        <p:spPr>
          <a:xfrm>
            <a:off x="685800" y="2834640"/>
            <a:ext cx="1554480" cy="502920"/>
          </a:xfrm>
          <a:prstGeom prst="rect">
            <a:avLst/>
          </a:prstGeom>
          <a:noFill/>
          <a:ln/>
        </p:spPr>
        <p:txBody>
          <a:bodyPr wrap="square" lIns="0" tIns="0" rIns="0" bIns="0" rtlCol="0" anchor="t"/>
          <a:lstStyle/>
          <a:p>
            <a:pPr marL="0" indent="0">
              <a:buNone/>
            </a:pPr>
            <a:r>
              <a:rPr lang="en-US" sz="1400" b="1" dirty="0">
                <a:solidFill>
                  <a:schemeClr val="tx2"/>
                </a:solidFill>
              </a:rPr>
              <a:t>Champs obligatoires vides</a:t>
            </a:r>
            <a:endParaRPr lang="en-US" sz="1400" dirty="0"/>
          </a:p>
        </p:txBody>
      </p:sp>
      <p:sp>
        <p:nvSpPr>
          <p:cNvPr id="12" name="Text 9"/>
          <p:cNvSpPr txBox="1"/>
          <p:nvPr/>
        </p:nvSpPr>
        <p:spPr>
          <a:xfrm>
            <a:off x="685800" y="3474720"/>
            <a:ext cx="1554480" cy="274320"/>
          </a:xfrm>
          <a:prstGeom prst="rect">
            <a:avLst/>
          </a:prstGeom>
          <a:noFill/>
          <a:ln/>
        </p:spPr>
        <p:txBody>
          <a:bodyPr wrap="square" lIns="0" tIns="0" rIns="0" bIns="0" rtlCol="0" anchor="t"/>
          <a:lstStyle/>
          <a:p>
            <a:pPr marL="0" indent="0">
              <a:buNone/>
            </a:pPr>
            <a:r>
              <a:rPr lang="en-US" sz="1400" dirty="0">
                <a:solidFill>
                  <a:schemeClr val="tx1"/>
                </a:solidFill>
              </a:rPr>
              <a:t>5 par table</a:t>
            </a:r>
            <a:endParaRPr lang="en-US" sz="1400" dirty="0"/>
          </a:p>
        </p:txBody>
      </p:sp>
      <p:sp>
        <p:nvSpPr>
          <p:cNvPr id="13" name="Anomalie Identifiants invalides"/>
          <p:cNvSpPr/>
          <p:nvPr/>
        </p:nvSpPr>
        <p:spPr>
          <a:xfrm>
            <a:off x="2514600" y="2697480"/>
            <a:ext cx="1828800" cy="1234440"/>
          </a:xfrm>
          <a:prstGeom prst="roundRect">
            <a:avLst>
              <a:gd name="adj" fmla="val 7407"/>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4" name="Text 11"/>
          <p:cNvSpPr txBox="1"/>
          <p:nvPr/>
        </p:nvSpPr>
        <p:spPr>
          <a:xfrm>
            <a:off x="2651760" y="2834640"/>
            <a:ext cx="1554480" cy="502920"/>
          </a:xfrm>
          <a:prstGeom prst="rect">
            <a:avLst/>
          </a:prstGeom>
          <a:noFill/>
          <a:ln/>
        </p:spPr>
        <p:txBody>
          <a:bodyPr wrap="square" lIns="0" tIns="0" rIns="0" bIns="0" rtlCol="0" anchor="t"/>
          <a:lstStyle/>
          <a:p>
            <a:pPr marL="0" indent="0">
              <a:buNone/>
            </a:pPr>
            <a:r>
              <a:rPr lang="en-US" sz="1400" b="1" dirty="0">
                <a:solidFill>
                  <a:schemeClr val="tx2"/>
                </a:solidFill>
              </a:rPr>
              <a:t>Identifiants invalides</a:t>
            </a:r>
            <a:endParaRPr lang="en-US" sz="1400" dirty="0"/>
          </a:p>
        </p:txBody>
      </p:sp>
      <p:sp>
        <p:nvSpPr>
          <p:cNvPr id="15" name="Text 12"/>
          <p:cNvSpPr txBox="1"/>
          <p:nvPr/>
        </p:nvSpPr>
        <p:spPr>
          <a:xfrm>
            <a:off x="2651760" y="3474720"/>
            <a:ext cx="1554480" cy="274320"/>
          </a:xfrm>
          <a:prstGeom prst="rect">
            <a:avLst/>
          </a:prstGeom>
          <a:noFill/>
          <a:ln/>
        </p:spPr>
        <p:txBody>
          <a:bodyPr wrap="square" lIns="0" tIns="0" rIns="0" bIns="0" rtlCol="0" anchor="t"/>
          <a:lstStyle/>
          <a:p>
            <a:pPr marL="0" indent="0">
              <a:buNone/>
            </a:pPr>
            <a:r>
              <a:rPr lang="en-US" sz="1400" dirty="0">
                <a:solidFill>
                  <a:schemeClr val="tx1"/>
                </a:solidFill>
              </a:rPr>
              <a:t>5 par table</a:t>
            </a:r>
            <a:endParaRPr lang="en-US" sz="1400" dirty="0"/>
          </a:p>
        </p:txBody>
      </p:sp>
      <p:sp>
        <p:nvSpPr>
          <p:cNvPr id="16" name="Text 13"/>
          <p:cNvSpPr txBox="1"/>
          <p:nvPr/>
        </p:nvSpPr>
        <p:spPr>
          <a:xfrm>
            <a:off x="548640" y="4160520"/>
            <a:ext cx="3840480" cy="274320"/>
          </a:xfrm>
          <a:prstGeom prst="rect">
            <a:avLst/>
          </a:prstGeom>
          <a:noFill/>
          <a:ln/>
        </p:spPr>
        <p:txBody>
          <a:bodyPr wrap="square" lIns="0" tIns="0" rIns="0" bIns="0" rtlCol="0" anchor="t"/>
          <a:lstStyle/>
          <a:p>
            <a:pPr marL="0" indent="0">
              <a:buNone/>
            </a:pPr>
            <a:r>
              <a:rPr lang="en-US" sz="1400" i="1" dirty="0">
                <a:solidFill>
                  <a:schemeClr val="tx1"/>
                </a:solidFill>
              </a:rPr>
              <a:t>Voir aussi : /rejets/resume dans l’API</a:t>
            </a:r>
            <a:endParaRPr lang="en-US" sz="1400" dirty="0"/>
          </a:p>
        </p:txBody>
      </p:sp>
      <p:sp>
        <p:nvSpPr>
          <p:cNvPr id="17" name="KPI rejets"/>
          <p:cNvSpPr/>
          <p:nvPr/>
        </p:nvSpPr>
        <p:spPr>
          <a:xfrm>
            <a:off x="4572000" y="1325880"/>
            <a:ext cx="4023360" cy="1234440"/>
          </a:xfrm>
          <a:prstGeom prst="roundRect">
            <a:avLst>
              <a:gd name="adj" fmla="val 7407"/>
            </a:avLst>
          </a:prstGeom>
          <a:solidFill>
            <a:schemeClr val="accent3">
              <a:alpha val="15000"/>
            </a:schemeClr>
          </a:solidFill>
          <a:ln w="9525">
            <a:solidFill>
              <a:schemeClr val="accent5"/>
            </a:solidFill>
            <a:prstDash val="solid"/>
          </a:ln>
          <a:effectLst>
            <a:outerShdw blurRad="76200" dist="25400" dir="5400000" algn="bl" rotWithShape="0">
              <a:srgbClr val="0F172A">
                <a:alpha val="7000"/>
              </a:srgbClr>
            </a:outerShdw>
          </a:effectLst>
        </p:spPr>
      </p:sp>
      <p:sp>
        <p:nvSpPr>
          <p:cNvPr id="18" name="Text 15"/>
          <p:cNvSpPr txBox="1"/>
          <p:nvPr/>
        </p:nvSpPr>
        <p:spPr>
          <a:xfrm>
            <a:off x="4800600" y="1554480"/>
            <a:ext cx="1280160" cy="685800"/>
          </a:xfrm>
          <a:prstGeom prst="rect">
            <a:avLst/>
          </a:prstGeom>
          <a:noFill/>
          <a:ln/>
        </p:spPr>
        <p:txBody>
          <a:bodyPr wrap="square" lIns="0" tIns="0" rIns="0" bIns="0" rtlCol="0" anchor="t"/>
          <a:lstStyle/>
          <a:p>
            <a:pPr marL="0" indent="0">
              <a:buNone/>
            </a:pPr>
            <a:r>
              <a:rPr lang="en-US" sz="3800" b="1" dirty="0">
                <a:solidFill>
                  <a:schemeClr val="tx2"/>
                </a:solidFill>
                <a:latin typeface="Cambria" pitchFamily="34" charset="0"/>
                <a:ea typeface="Cambria" pitchFamily="34" charset="-122"/>
                <a:cs typeface="Cambria" pitchFamily="34" charset="-120"/>
              </a:rPr>
              <a:t>40</a:t>
            </a:r>
            <a:endParaRPr lang="en-US" sz="3800" dirty="0"/>
          </a:p>
        </p:txBody>
      </p:sp>
      <p:sp>
        <p:nvSpPr>
          <p:cNvPr id="19" name="Text 16"/>
          <p:cNvSpPr txBox="1"/>
          <p:nvPr/>
        </p:nvSpPr>
        <p:spPr>
          <a:xfrm>
            <a:off x="5943600" y="1600200"/>
            <a:ext cx="2468880" cy="822960"/>
          </a:xfrm>
          <a:prstGeom prst="rect">
            <a:avLst/>
          </a:prstGeom>
          <a:noFill/>
          <a:ln/>
        </p:spPr>
        <p:txBody>
          <a:bodyPr wrap="square" lIns="0" tIns="0" rIns="0" bIns="0" rtlCol="0" anchor="t"/>
          <a:lstStyle/>
          <a:p>
            <a:pPr marL="0" indent="0">
              <a:buNone/>
            </a:pPr>
            <a:r>
              <a:rPr lang="en-US" sz="1400" dirty="0">
                <a:solidFill>
                  <a:schemeClr val="tx1"/>
                </a:solidFill>
              </a:rPr>
              <a:t>rejets tracés avec leur motif. L’entrepôt garde ses 2 000 lignes saines.</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Livrables du dépôt public</a:t>
            </a:r>
            <a:endParaRPr lang="en-US" sz="3400" dirty="0"/>
          </a:p>
        </p:txBody>
      </p:sp>
      <p:sp>
        <p:nvSpPr>
          <p:cNvPr id="4" name="Coche 0"/>
          <p:cNvSpPr/>
          <p:nvPr/>
        </p:nvSpPr>
        <p:spPr>
          <a:xfrm>
            <a:off x="548640" y="1417320"/>
            <a:ext cx="274320" cy="274320"/>
          </a:xfrm>
          <a:prstGeom prst="ellipse">
            <a:avLst/>
          </a:prstGeom>
          <a:solidFill>
            <a:schemeClr val="accent2"/>
          </a:solidFill>
          <a:ln w="12700">
            <a:solidFill>
              <a:schemeClr val="accent2"/>
            </a:solidFill>
            <a:prstDash val="solid"/>
          </a:ln>
        </p:spPr>
      </p:sp>
      <p:pic>
        <p:nvPicPr>
          <p:cNvPr id="5" name="Image 0" descr="Coche"/>
          <p:cNvPicPr>
            <a:picLocks noChangeAspect="1"/>
          </p:cNvPicPr>
          <p:nvPr/>
        </p:nvPicPr>
        <p:blipFill>
          <a:blip r:embed="rId3"/>
          <a:stretch>
            <a:fillRect/>
          </a:stretch>
        </p:blipFill>
        <p:spPr>
          <a:xfrm>
            <a:off x="612648" y="1481328"/>
            <a:ext cx="146304" cy="146304"/>
          </a:xfrm>
          <a:prstGeom prst="rect">
            <a:avLst/>
          </a:prstGeom>
        </p:spPr>
      </p:pic>
      <p:sp>
        <p:nvSpPr>
          <p:cNvPr id="6" name="Text 2"/>
          <p:cNvSpPr txBox="1"/>
          <p:nvPr/>
        </p:nvSpPr>
        <p:spPr>
          <a:xfrm>
            <a:off x="1005840" y="1371600"/>
            <a:ext cx="4206240" cy="365760"/>
          </a:xfrm>
          <a:prstGeom prst="rect">
            <a:avLst/>
          </a:prstGeom>
          <a:noFill/>
          <a:ln/>
        </p:spPr>
        <p:txBody>
          <a:bodyPr wrap="square" lIns="0" tIns="0" rIns="0" bIns="0" rtlCol="0" anchor="ctr"/>
          <a:lstStyle/>
          <a:p>
            <a:pPr marL="0" indent="0">
              <a:buNone/>
            </a:pPr>
            <a:r>
              <a:rPr lang="en-US" sz="1400" dirty="0">
                <a:solidFill>
                  <a:schemeClr val="tx1"/>
                </a:solidFill>
              </a:rPr>
              <a:t>Code source et fichiers de dépendances</a:t>
            </a:r>
            <a:endParaRPr lang="en-US" sz="1400" dirty="0"/>
          </a:p>
        </p:txBody>
      </p:sp>
      <p:sp>
        <p:nvSpPr>
          <p:cNvPr id="7" name="Coche 1"/>
          <p:cNvSpPr/>
          <p:nvPr/>
        </p:nvSpPr>
        <p:spPr>
          <a:xfrm>
            <a:off x="548640" y="1819656"/>
            <a:ext cx="274320" cy="274320"/>
          </a:xfrm>
          <a:prstGeom prst="ellipse">
            <a:avLst/>
          </a:prstGeom>
          <a:solidFill>
            <a:schemeClr val="accent2"/>
          </a:solidFill>
          <a:ln w="12700">
            <a:solidFill>
              <a:schemeClr val="accent2"/>
            </a:solidFill>
            <a:prstDash val="solid"/>
          </a:ln>
        </p:spPr>
      </p:sp>
      <p:pic>
        <p:nvPicPr>
          <p:cNvPr id="8" name="Image 1" descr="Coche"/>
          <p:cNvPicPr>
            <a:picLocks noChangeAspect="1"/>
          </p:cNvPicPr>
          <p:nvPr/>
        </p:nvPicPr>
        <p:blipFill>
          <a:blip r:embed="rId3"/>
          <a:stretch>
            <a:fillRect/>
          </a:stretch>
        </p:blipFill>
        <p:spPr>
          <a:xfrm>
            <a:off x="612648" y="1883664"/>
            <a:ext cx="146304" cy="146304"/>
          </a:xfrm>
          <a:prstGeom prst="rect">
            <a:avLst/>
          </a:prstGeom>
        </p:spPr>
      </p:pic>
      <p:sp>
        <p:nvSpPr>
          <p:cNvPr id="9" name="Text 4"/>
          <p:cNvSpPr txBox="1"/>
          <p:nvPr/>
        </p:nvSpPr>
        <p:spPr>
          <a:xfrm>
            <a:off x="1005840" y="1773936"/>
            <a:ext cx="4206240" cy="365760"/>
          </a:xfrm>
          <a:prstGeom prst="rect">
            <a:avLst/>
          </a:prstGeom>
          <a:noFill/>
          <a:ln/>
        </p:spPr>
        <p:txBody>
          <a:bodyPr wrap="square" lIns="0" tIns="0" rIns="0" bIns="0" rtlCol="0" anchor="ctr"/>
          <a:lstStyle/>
          <a:p>
            <a:pPr marL="0" indent="0">
              <a:buNone/>
            </a:pPr>
            <a:r>
              <a:rPr lang="en-US" sz="1400" dirty="0">
                <a:solidFill>
                  <a:schemeClr val="tx1"/>
                </a:solidFill>
              </a:rPr>
              <a:t>Scripts SQL de création des bases</a:t>
            </a:r>
            <a:endParaRPr lang="en-US" sz="1400" dirty="0"/>
          </a:p>
        </p:txBody>
      </p:sp>
      <p:sp>
        <p:nvSpPr>
          <p:cNvPr id="10" name="Coche 2"/>
          <p:cNvSpPr/>
          <p:nvPr/>
        </p:nvSpPr>
        <p:spPr>
          <a:xfrm>
            <a:off x="548640" y="2221992"/>
            <a:ext cx="274320" cy="274320"/>
          </a:xfrm>
          <a:prstGeom prst="ellipse">
            <a:avLst/>
          </a:prstGeom>
          <a:solidFill>
            <a:schemeClr val="accent2"/>
          </a:solidFill>
          <a:ln w="12700">
            <a:solidFill>
              <a:schemeClr val="accent2"/>
            </a:solidFill>
            <a:prstDash val="solid"/>
          </a:ln>
        </p:spPr>
      </p:sp>
      <p:pic>
        <p:nvPicPr>
          <p:cNvPr id="11" name="Image 2" descr="Coche"/>
          <p:cNvPicPr>
            <a:picLocks noChangeAspect="1"/>
          </p:cNvPicPr>
          <p:nvPr/>
        </p:nvPicPr>
        <p:blipFill>
          <a:blip r:embed="rId3"/>
          <a:stretch>
            <a:fillRect/>
          </a:stretch>
        </p:blipFill>
        <p:spPr>
          <a:xfrm>
            <a:off x="612648" y="2286000"/>
            <a:ext cx="146304" cy="146304"/>
          </a:xfrm>
          <a:prstGeom prst="rect">
            <a:avLst/>
          </a:prstGeom>
        </p:spPr>
      </p:pic>
      <p:sp>
        <p:nvSpPr>
          <p:cNvPr id="12" name="Text 6"/>
          <p:cNvSpPr txBox="1"/>
          <p:nvPr/>
        </p:nvSpPr>
        <p:spPr>
          <a:xfrm>
            <a:off x="1005840" y="2176272"/>
            <a:ext cx="4206240" cy="365760"/>
          </a:xfrm>
          <a:prstGeom prst="rect">
            <a:avLst/>
          </a:prstGeom>
          <a:noFill/>
          <a:ln/>
        </p:spPr>
        <p:txBody>
          <a:bodyPr wrap="square" lIns="0" tIns="0" rIns="0" bIns="0" rtlCol="0" anchor="ctr"/>
          <a:lstStyle/>
          <a:p>
            <a:pPr marL="0" indent="0">
              <a:buNone/>
            </a:pPr>
            <a:r>
              <a:rPr lang="en-US" sz="1400" dirty="0">
                <a:solidFill>
                  <a:schemeClr val="tx1"/>
                </a:solidFill>
              </a:rPr>
              <a:t>Docker Compose, volumes, données de test</a:t>
            </a:r>
            <a:endParaRPr lang="en-US" sz="1400" dirty="0"/>
          </a:p>
        </p:txBody>
      </p:sp>
      <p:sp>
        <p:nvSpPr>
          <p:cNvPr id="13" name="Coche 3"/>
          <p:cNvSpPr/>
          <p:nvPr/>
        </p:nvSpPr>
        <p:spPr>
          <a:xfrm>
            <a:off x="548640" y="2624328"/>
            <a:ext cx="274320" cy="274320"/>
          </a:xfrm>
          <a:prstGeom prst="ellipse">
            <a:avLst/>
          </a:prstGeom>
          <a:solidFill>
            <a:schemeClr val="accent2"/>
          </a:solidFill>
          <a:ln w="12700">
            <a:solidFill>
              <a:schemeClr val="accent2"/>
            </a:solidFill>
            <a:prstDash val="solid"/>
          </a:ln>
        </p:spPr>
      </p:sp>
      <p:pic>
        <p:nvPicPr>
          <p:cNvPr id="14" name="Image 3" descr="Coche"/>
          <p:cNvPicPr>
            <a:picLocks noChangeAspect="1"/>
          </p:cNvPicPr>
          <p:nvPr/>
        </p:nvPicPr>
        <p:blipFill>
          <a:blip r:embed="rId3"/>
          <a:stretch>
            <a:fillRect/>
          </a:stretch>
        </p:blipFill>
        <p:spPr>
          <a:xfrm>
            <a:off x="612648" y="2688336"/>
            <a:ext cx="146304" cy="146304"/>
          </a:xfrm>
          <a:prstGeom prst="rect">
            <a:avLst/>
          </a:prstGeom>
        </p:spPr>
      </p:pic>
      <p:sp>
        <p:nvSpPr>
          <p:cNvPr id="15" name="Text 8"/>
          <p:cNvSpPr txBox="1"/>
          <p:nvPr/>
        </p:nvSpPr>
        <p:spPr>
          <a:xfrm>
            <a:off x="1005840" y="2578608"/>
            <a:ext cx="4206240" cy="365760"/>
          </a:xfrm>
          <a:prstGeom prst="rect">
            <a:avLst/>
          </a:prstGeom>
          <a:noFill/>
          <a:ln/>
        </p:spPr>
        <p:txBody>
          <a:bodyPr wrap="square" lIns="0" tIns="0" rIns="0" bIns="0" rtlCol="0" anchor="ctr"/>
          <a:lstStyle/>
          <a:p>
            <a:pPr marL="0" indent="0">
              <a:buNone/>
            </a:pPr>
            <a:r>
              <a:rPr lang="en-US" sz="1400" dirty="0">
                <a:solidFill>
                  <a:schemeClr val="tx1"/>
                </a:solidFill>
              </a:rPr>
              <a:t>Dagster, workflows et contrat OpenAPI</a:t>
            </a:r>
            <a:endParaRPr lang="en-US" sz="1400" dirty="0"/>
          </a:p>
        </p:txBody>
      </p:sp>
      <p:sp>
        <p:nvSpPr>
          <p:cNvPr id="16" name="Coche 4"/>
          <p:cNvSpPr/>
          <p:nvPr/>
        </p:nvSpPr>
        <p:spPr>
          <a:xfrm>
            <a:off x="548640" y="3026664"/>
            <a:ext cx="274320" cy="274320"/>
          </a:xfrm>
          <a:prstGeom prst="ellipse">
            <a:avLst/>
          </a:prstGeom>
          <a:solidFill>
            <a:schemeClr val="accent2"/>
          </a:solidFill>
          <a:ln w="12700">
            <a:solidFill>
              <a:schemeClr val="accent2"/>
            </a:solidFill>
            <a:prstDash val="solid"/>
          </a:ln>
        </p:spPr>
      </p:sp>
      <p:pic>
        <p:nvPicPr>
          <p:cNvPr id="17" name="Image 4" descr="Coche"/>
          <p:cNvPicPr>
            <a:picLocks noChangeAspect="1"/>
          </p:cNvPicPr>
          <p:nvPr/>
        </p:nvPicPr>
        <p:blipFill>
          <a:blip r:embed="rId3"/>
          <a:stretch>
            <a:fillRect/>
          </a:stretch>
        </p:blipFill>
        <p:spPr>
          <a:xfrm>
            <a:off x="612648" y="3090672"/>
            <a:ext cx="146304" cy="146304"/>
          </a:xfrm>
          <a:prstGeom prst="rect">
            <a:avLst/>
          </a:prstGeom>
        </p:spPr>
      </p:pic>
      <p:sp>
        <p:nvSpPr>
          <p:cNvPr id="18" name="Text 10"/>
          <p:cNvSpPr txBox="1"/>
          <p:nvPr/>
        </p:nvSpPr>
        <p:spPr>
          <a:xfrm>
            <a:off x="1005840" y="2980944"/>
            <a:ext cx="4206240" cy="365760"/>
          </a:xfrm>
          <a:prstGeom prst="rect">
            <a:avLst/>
          </a:prstGeom>
          <a:noFill/>
          <a:ln/>
        </p:spPr>
        <p:txBody>
          <a:bodyPr wrap="square" lIns="0" tIns="0" rIns="0" bIns="0" rtlCol="0" anchor="ctr"/>
          <a:lstStyle/>
          <a:p>
            <a:pPr marL="0" indent="0">
              <a:buNone/>
            </a:pPr>
            <a:r>
              <a:rPr lang="en-US" sz="1400" dirty="0">
                <a:solidFill>
                  <a:schemeClr val="tx1"/>
                </a:solidFill>
              </a:rPr>
              <a:t>README : architecture et installation</a:t>
            </a:r>
            <a:endParaRPr lang="en-US" sz="1400" dirty="0"/>
          </a:p>
        </p:txBody>
      </p:sp>
      <p:sp>
        <p:nvSpPr>
          <p:cNvPr id="19" name="Coche 5"/>
          <p:cNvSpPr/>
          <p:nvPr/>
        </p:nvSpPr>
        <p:spPr>
          <a:xfrm>
            <a:off x="548640" y="3429000"/>
            <a:ext cx="274320" cy="274320"/>
          </a:xfrm>
          <a:prstGeom prst="ellipse">
            <a:avLst/>
          </a:prstGeom>
          <a:solidFill>
            <a:schemeClr val="accent2"/>
          </a:solidFill>
          <a:ln w="12700">
            <a:solidFill>
              <a:schemeClr val="accent2"/>
            </a:solidFill>
            <a:prstDash val="solid"/>
          </a:ln>
        </p:spPr>
      </p:sp>
      <p:pic>
        <p:nvPicPr>
          <p:cNvPr id="20" name="Image 5" descr="Coche"/>
          <p:cNvPicPr>
            <a:picLocks noChangeAspect="1"/>
          </p:cNvPicPr>
          <p:nvPr/>
        </p:nvPicPr>
        <p:blipFill>
          <a:blip r:embed="rId3"/>
          <a:stretch>
            <a:fillRect/>
          </a:stretch>
        </p:blipFill>
        <p:spPr>
          <a:xfrm>
            <a:off x="612648" y="3493008"/>
            <a:ext cx="146304" cy="146304"/>
          </a:xfrm>
          <a:prstGeom prst="rect">
            <a:avLst/>
          </a:prstGeom>
        </p:spPr>
      </p:pic>
      <p:sp>
        <p:nvSpPr>
          <p:cNvPr id="21" name="Text 12"/>
          <p:cNvSpPr txBox="1"/>
          <p:nvPr/>
        </p:nvSpPr>
        <p:spPr>
          <a:xfrm>
            <a:off x="1005840" y="3383280"/>
            <a:ext cx="4206240" cy="365760"/>
          </a:xfrm>
          <a:prstGeom prst="rect">
            <a:avLst/>
          </a:prstGeom>
          <a:noFill/>
          <a:ln/>
        </p:spPr>
        <p:txBody>
          <a:bodyPr wrap="square" lIns="0" tIns="0" rIns="0" bIns="0" rtlCol="0" anchor="ctr"/>
          <a:lstStyle/>
          <a:p>
            <a:pPr marL="0" indent="0">
              <a:buNone/>
            </a:pPr>
            <a:r>
              <a:rPr lang="en-US" sz="1400" dirty="0">
                <a:solidFill>
                  <a:schemeClr val="tx1"/>
                </a:solidFill>
              </a:rPr>
              <a:t>Tests et résultats attendus</a:t>
            </a:r>
            <a:endParaRPr lang="en-US" sz="1400" dirty="0"/>
          </a:p>
        </p:txBody>
      </p:sp>
      <p:sp>
        <p:nvSpPr>
          <p:cNvPr id="22" name="Coche 6"/>
          <p:cNvSpPr/>
          <p:nvPr/>
        </p:nvSpPr>
        <p:spPr>
          <a:xfrm>
            <a:off x="548640" y="3831336"/>
            <a:ext cx="274320" cy="274320"/>
          </a:xfrm>
          <a:prstGeom prst="ellipse">
            <a:avLst/>
          </a:prstGeom>
          <a:solidFill>
            <a:schemeClr val="accent2"/>
          </a:solidFill>
          <a:ln w="12700">
            <a:solidFill>
              <a:schemeClr val="accent2"/>
            </a:solidFill>
            <a:prstDash val="solid"/>
          </a:ln>
        </p:spPr>
      </p:sp>
      <p:pic>
        <p:nvPicPr>
          <p:cNvPr id="23" name="Image 6" descr="Coche"/>
          <p:cNvPicPr>
            <a:picLocks noChangeAspect="1"/>
          </p:cNvPicPr>
          <p:nvPr/>
        </p:nvPicPr>
        <p:blipFill>
          <a:blip r:embed="rId3"/>
          <a:stretch>
            <a:fillRect/>
          </a:stretch>
        </p:blipFill>
        <p:spPr>
          <a:xfrm>
            <a:off x="612648" y="3895344"/>
            <a:ext cx="146304" cy="146304"/>
          </a:xfrm>
          <a:prstGeom prst="rect">
            <a:avLst/>
          </a:prstGeom>
        </p:spPr>
      </p:pic>
      <p:sp>
        <p:nvSpPr>
          <p:cNvPr id="24" name="Text 14"/>
          <p:cNvSpPr txBox="1"/>
          <p:nvPr/>
        </p:nvSpPr>
        <p:spPr>
          <a:xfrm>
            <a:off x="1005840" y="3785616"/>
            <a:ext cx="4206240" cy="365760"/>
          </a:xfrm>
          <a:prstGeom prst="rect">
            <a:avLst/>
          </a:prstGeom>
          <a:noFill/>
          <a:ln/>
        </p:spPr>
        <p:txBody>
          <a:bodyPr wrap="square" lIns="0" tIns="0" rIns="0" bIns="0" rtlCol="0" anchor="ctr"/>
          <a:lstStyle/>
          <a:p>
            <a:pPr marL="0" indent="0">
              <a:buNone/>
            </a:pPr>
            <a:r>
              <a:rPr lang="en-US" sz="1400" dirty="0">
                <a:solidFill>
                  <a:schemeClr val="tx1"/>
                </a:solidFill>
              </a:rPr>
              <a:t>Présentation PowerPoint</a:t>
            </a:r>
            <a:endParaRPr lang="en-US" sz="1400" dirty="0"/>
          </a:p>
        </p:txBody>
      </p:sp>
      <p:sp>
        <p:nvSpPr>
          <p:cNvPr id="28" name="Zone de capture capture_21_depot_git.png"/>
          <p:cNvSpPr/>
          <p:nvPr/>
        </p:nvSpPr>
        <p:spPr>
          <a:xfrm>
            <a:off x="5486400" y="1371600"/>
            <a:ext cx="3108960" cy="3154680"/>
          </a:xfrm>
          <a:prstGeom prst="roundRect">
            <a:avLst>
              <a:gd name="adj" fmla="val 2941"/>
            </a:avLst>
          </a:prstGeom>
          <a:solidFill>
            <a:schemeClr val="bg2"/>
          </a:solidFill>
          <a:ln w="12700">
            <a:solidFill>
              <a:schemeClr val="accent5"/>
            </a:solidFill>
            <a:prstDash val="solid"/>
          </a:ln>
        </p:spPr>
      </p:sp>
      <p:sp>
        <p:nvSpPr>
          <p:cNvPr id="3"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14</a:t>
            </a:fld>
            <a:endParaRPr lang="en-US"/>
          </a:p>
        </p:txBody>
      </p:sp>
      <p:pic>
        <p:nvPicPr>
          <p:cNvPr id="33" name="Image 32">
            <a:extLst>
              <a:ext uri="{FF2B5EF4-FFF2-40B4-BE49-F238E27FC236}">
                <a16:creationId xmlns:a16="http://schemas.microsoft.com/office/drawing/2014/main" id="{E0A14750-DE5B-C484-3432-AF9A6A3043F3}"/>
              </a:ext>
            </a:extLst>
          </p:cNvPr>
          <p:cNvPicPr>
            <a:picLocks noChangeAspect="1"/>
          </p:cNvPicPr>
          <p:nvPr/>
        </p:nvPicPr>
        <p:blipFill>
          <a:blip r:embed="rId4"/>
          <a:stretch>
            <a:fillRect/>
          </a:stretch>
        </p:blipFill>
        <p:spPr>
          <a:xfrm>
            <a:off x="5568696" y="2110492"/>
            <a:ext cx="2944368" cy="1676895"/>
          </a:xfrm>
          <a:prstGeom prst="rect">
            <a:avLst/>
          </a:prstGeom>
          <a:ln w="9525">
            <a:solidFill>
              <a:schemeClr val="accent5"/>
            </a:solidFill>
          </a:ln>
        </p:spPr>
      </p:pic>
      <p:sp>
        <p:nvSpPr>
          <p:cNvPr id="34" name="Lien dépôt"/>
          <p:cNvSpPr txBox="1"/>
          <p:nvPr/>
        </p:nvSpPr>
        <p:spPr>
          <a:xfrm>
            <a:off x="548640" y="4279392"/>
            <a:ext cx="4754880" cy="274320"/>
          </a:xfrm>
          <a:prstGeom prst="rect">
            <a:avLst/>
          </a:prstGeom>
          <a:noFill/>
        </p:spPr>
        <p:txBody>
          <a:bodyPr wrap="square" lIns="0" tIns="0" rIns="0" bIns="0">
            <a:spAutoFit/>
          </a:bodyPr>
          <a:lstStyle/>
          <a:p>
            <a:r>
              <a:rPr sz="1200" b="1">
                <a:solidFill>
                  <a:schemeClr val="tx2"/>
                </a:solidFill>
              </a:rPr>
              <a:t>Dépôt : </a:t>
            </a:r>
            <a:r>
              <a:rPr sz="1200">
                <a:solidFill>
                  <a:schemeClr val="accent6"/>
                </a:solidFill>
                <a:hlinkClick r:id="rId5"/>
              </a:rPr>
              <a:t>github.com/abdoulaziztao/tp19-pipeline-sanitaire_SIE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buNone/>
            </a:pPr>
            <a:r>
              <a:rPr lang="en-US" sz="3400" b="1" dirty="0">
                <a:solidFill>
                  <a:schemeClr val="tx2"/>
                </a:solidFill>
              </a:rPr>
              <a:t>Bilan et perspectives</a:t>
            </a:r>
            <a:endParaRPr lang="en-US" sz="3400" dirty="0"/>
          </a:p>
        </p:txBody>
      </p:sp>
      <p:sp>
        <p:nvSpPr>
          <p:cNvPr id="4" name="Bloc Ce que nous avons construit"/>
          <p:cNvSpPr/>
          <p:nvPr/>
        </p:nvSpPr>
        <p:spPr>
          <a:xfrm>
            <a:off x="548640" y="1371600"/>
            <a:ext cx="3931920" cy="3017520"/>
          </a:xfrm>
          <a:prstGeom prst="roundRect">
            <a:avLst>
              <a:gd name="adj" fmla="val 3030"/>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5" name="Pastille FaCheckCircle"/>
          <p:cNvSpPr/>
          <p:nvPr/>
        </p:nvSpPr>
        <p:spPr>
          <a:xfrm>
            <a:off x="822960" y="1600200"/>
            <a:ext cx="548640" cy="548640"/>
          </a:xfrm>
          <a:prstGeom prst="ellipse">
            <a:avLst/>
          </a:prstGeom>
          <a:solidFill>
            <a:schemeClr val="accent2"/>
          </a:solidFill>
          <a:ln w="12700">
            <a:solidFill>
              <a:schemeClr val="accent2"/>
            </a:solidFill>
            <a:prstDash val="solid"/>
          </a:ln>
        </p:spPr>
      </p:sp>
      <p:pic>
        <p:nvPicPr>
          <p:cNvPr id="6" name="Image 0" descr="Icône FaCheckCircle"/>
          <p:cNvPicPr>
            <a:picLocks noChangeAspect="1"/>
          </p:cNvPicPr>
          <p:nvPr/>
        </p:nvPicPr>
        <p:blipFill>
          <a:blip r:embed="rId3"/>
          <a:stretch>
            <a:fillRect/>
          </a:stretch>
        </p:blipFill>
        <p:spPr>
          <a:xfrm>
            <a:off x="960120" y="1737360"/>
            <a:ext cx="274320" cy="274320"/>
          </a:xfrm>
          <a:prstGeom prst="rect">
            <a:avLst/>
          </a:prstGeom>
        </p:spPr>
      </p:pic>
      <p:sp>
        <p:nvSpPr>
          <p:cNvPr id="7" name="Text 3"/>
          <p:cNvSpPr txBox="1"/>
          <p:nvPr/>
        </p:nvSpPr>
        <p:spPr>
          <a:xfrm>
            <a:off x="1554480" y="1737360"/>
            <a:ext cx="2743200" cy="365760"/>
          </a:xfrm>
          <a:prstGeom prst="rect">
            <a:avLst/>
          </a:prstGeom>
          <a:noFill/>
          <a:ln/>
        </p:spPr>
        <p:txBody>
          <a:bodyPr wrap="square" lIns="0" tIns="0" rIns="0" bIns="0" rtlCol="0" anchor="t"/>
          <a:lstStyle/>
          <a:p>
            <a:pPr marL="0" indent="0">
              <a:buNone/>
            </a:pPr>
            <a:r>
              <a:rPr lang="en-US" sz="2000" b="1" dirty="0">
                <a:solidFill>
                  <a:schemeClr val="tx2"/>
                </a:solidFill>
              </a:rPr>
              <a:t>Ce que nous avons construit</a:t>
            </a:r>
            <a:endParaRPr lang="en-US" sz="2000" dirty="0"/>
          </a:p>
        </p:txBody>
      </p:sp>
      <p:sp>
        <p:nvSpPr>
          <p:cNvPr id="8" name="Text 4"/>
          <p:cNvSpPr txBox="1"/>
          <p:nvPr/>
        </p:nvSpPr>
        <p:spPr>
          <a:xfrm>
            <a:off x="822960" y="2514600"/>
            <a:ext cx="3383280" cy="1737360"/>
          </a:xfrm>
          <a:prstGeom prst="rect">
            <a:avLst/>
          </a:prstGeom>
          <a:noFill/>
          <a:ln/>
        </p:spPr>
        <p:txBody>
          <a:bodyPr wrap="square" lIns="0" tIns="0" rIns="0" bIns="0" rtlCol="0" anchor="t"/>
          <a:lstStyle/>
          <a:p>
            <a:pPr marL="0" indent="0">
              <a:spcAft>
                <a:spcPts val="1000"/>
              </a:spcAft>
              <a:buNone/>
            </a:pPr>
            <a:r>
              <a:rPr lang="en-US" sz="1400" b="1" dirty="0">
                <a:solidFill>
                  <a:schemeClr val="tx2"/>
                </a:solidFill>
              </a:rPr>
              <a:t>Fiable : </a:t>
            </a:r>
            <a:r>
              <a:rPr lang="en-US" sz="1400" dirty="0">
                <a:solidFill>
                  <a:schemeClr val="tx1"/>
                </a:solidFill>
              </a:rPr>
              <a:t>chaque défaut est détecté et expliqué.</a:t>
            </a:r>
            <a:endParaRPr lang="en-US" sz="1400" dirty="0"/>
          </a:p>
          <a:p>
            <a:pPr marL="0" indent="0">
              <a:spcAft>
                <a:spcPts val="1000"/>
              </a:spcAft>
              <a:buNone/>
            </a:pPr>
            <a:r>
              <a:rPr lang="en-US" sz="1400" b="1" dirty="0">
                <a:solidFill>
                  <a:schemeClr val="tx2"/>
                </a:solidFill>
              </a:rPr>
              <a:t>Reproductible : </a:t>
            </a:r>
            <a:r>
              <a:rPr lang="en-US" sz="1400" dirty="0">
                <a:solidFill>
                  <a:schemeClr val="tx1"/>
                </a:solidFill>
              </a:rPr>
              <a:t>tout démarre avec Docker Compose.</a:t>
            </a:r>
            <a:endParaRPr lang="en-US" sz="1400" dirty="0"/>
          </a:p>
          <a:p>
            <a:pPr marL="0" indent="0">
              <a:spcAft>
                <a:spcPts val="1000"/>
              </a:spcAft>
              <a:buNone/>
            </a:pPr>
            <a:r>
              <a:rPr lang="en-US" sz="1400" b="1" dirty="0">
                <a:solidFill>
                  <a:schemeClr val="tx2"/>
                </a:solidFill>
              </a:rPr>
              <a:t>Lisible : </a:t>
            </a:r>
            <a:r>
              <a:rPr lang="en-US" sz="1400" dirty="0">
                <a:solidFill>
                  <a:schemeClr val="tx1"/>
                </a:solidFill>
              </a:rPr>
              <a:t>indicateurs par période et par structure.</a:t>
            </a:r>
            <a:endParaRPr lang="en-US" sz="1400" dirty="0"/>
          </a:p>
        </p:txBody>
      </p:sp>
      <p:sp>
        <p:nvSpPr>
          <p:cNvPr id="9" name="Bloc Perspectives"/>
          <p:cNvSpPr/>
          <p:nvPr/>
        </p:nvSpPr>
        <p:spPr>
          <a:xfrm>
            <a:off x="4663440" y="1371600"/>
            <a:ext cx="3931920" cy="3017520"/>
          </a:xfrm>
          <a:prstGeom prst="roundRect">
            <a:avLst>
              <a:gd name="adj" fmla="val 3030"/>
            </a:avLst>
          </a:prstGeom>
          <a:solidFill>
            <a:schemeClr val="bg2"/>
          </a:solidFill>
          <a:ln w="9525">
            <a:solidFill>
              <a:schemeClr val="accent5"/>
            </a:solidFill>
            <a:prstDash val="solid"/>
          </a:ln>
          <a:effectLst>
            <a:outerShdw blurRad="76200" dist="25400" dir="5400000" algn="bl" rotWithShape="0">
              <a:srgbClr val="0F172A">
                <a:alpha val="7000"/>
              </a:srgbClr>
            </a:outerShdw>
          </a:effectLst>
        </p:spPr>
      </p:sp>
      <p:sp>
        <p:nvSpPr>
          <p:cNvPr id="10" name="Pastille FaBolt"/>
          <p:cNvSpPr/>
          <p:nvPr/>
        </p:nvSpPr>
        <p:spPr>
          <a:xfrm>
            <a:off x="4937760" y="1600200"/>
            <a:ext cx="548640" cy="548640"/>
          </a:xfrm>
          <a:prstGeom prst="ellipse">
            <a:avLst/>
          </a:prstGeom>
          <a:solidFill>
            <a:schemeClr val="accent1"/>
          </a:solidFill>
          <a:ln w="12700">
            <a:solidFill>
              <a:schemeClr val="accent1"/>
            </a:solidFill>
            <a:prstDash val="solid"/>
          </a:ln>
        </p:spPr>
      </p:sp>
      <p:pic>
        <p:nvPicPr>
          <p:cNvPr id="11" name="Image 1" descr="Icône FaBolt"/>
          <p:cNvPicPr>
            <a:picLocks noChangeAspect="1"/>
          </p:cNvPicPr>
          <p:nvPr/>
        </p:nvPicPr>
        <p:blipFill>
          <a:blip r:embed="rId4"/>
          <a:stretch>
            <a:fillRect/>
          </a:stretch>
        </p:blipFill>
        <p:spPr>
          <a:xfrm>
            <a:off x="5074920" y="1737360"/>
            <a:ext cx="274320" cy="274320"/>
          </a:xfrm>
          <a:prstGeom prst="rect">
            <a:avLst/>
          </a:prstGeom>
        </p:spPr>
      </p:pic>
      <p:sp>
        <p:nvSpPr>
          <p:cNvPr id="12" name="Text 7"/>
          <p:cNvSpPr txBox="1"/>
          <p:nvPr/>
        </p:nvSpPr>
        <p:spPr>
          <a:xfrm>
            <a:off x="5669280" y="1737360"/>
            <a:ext cx="2743200" cy="365760"/>
          </a:xfrm>
          <a:prstGeom prst="rect">
            <a:avLst/>
          </a:prstGeom>
          <a:noFill/>
          <a:ln/>
        </p:spPr>
        <p:txBody>
          <a:bodyPr wrap="square" lIns="0" tIns="0" rIns="0" bIns="0" rtlCol="0" anchor="t"/>
          <a:lstStyle/>
          <a:p>
            <a:pPr marL="0" indent="0">
              <a:buNone/>
            </a:pPr>
            <a:r>
              <a:rPr lang="en-US" sz="2000" b="1" dirty="0">
                <a:solidFill>
                  <a:schemeClr val="tx2"/>
                </a:solidFill>
              </a:rPr>
              <a:t>Perspectives</a:t>
            </a:r>
            <a:endParaRPr lang="en-US" sz="2000" dirty="0"/>
          </a:p>
        </p:txBody>
      </p:sp>
      <p:sp>
        <p:nvSpPr>
          <p:cNvPr id="13" name="Text 8"/>
          <p:cNvSpPr txBox="1"/>
          <p:nvPr/>
        </p:nvSpPr>
        <p:spPr>
          <a:xfrm>
            <a:off x="4937760" y="2514600"/>
            <a:ext cx="3383280" cy="1737360"/>
          </a:xfrm>
          <a:prstGeom prst="rect">
            <a:avLst/>
          </a:prstGeom>
          <a:noFill/>
          <a:ln/>
        </p:spPr>
        <p:txBody>
          <a:bodyPr wrap="square" lIns="0" tIns="0" rIns="0" bIns="0" rtlCol="0" anchor="t"/>
          <a:lstStyle/>
          <a:p>
            <a:pPr marL="0" indent="0">
              <a:spcAft>
                <a:spcPts val="1000"/>
              </a:spcAft>
              <a:buNone/>
            </a:pPr>
            <a:r>
              <a:rPr lang="en-US" sz="1400" b="1" dirty="0">
                <a:solidFill>
                  <a:schemeClr val="tx2"/>
                </a:solidFill>
              </a:rPr>
              <a:t>Orchestrer : </a:t>
            </a:r>
            <a:r>
              <a:rPr lang="en-US" sz="1400" dirty="0">
                <a:solidFill>
                  <a:schemeClr val="tx1"/>
                </a:solidFill>
              </a:rPr>
              <a:t>déclencher Airbyte depuis Dagster.</a:t>
            </a:r>
            <a:endParaRPr lang="en-US" sz="1400" dirty="0"/>
          </a:p>
          <a:p>
            <a:pPr marL="0" indent="0">
              <a:spcAft>
                <a:spcPts val="1000"/>
              </a:spcAft>
              <a:buNone/>
            </a:pPr>
            <a:r>
              <a:rPr lang="en-US" sz="1400" b="1" dirty="0">
                <a:solidFill>
                  <a:schemeClr val="tx2"/>
                </a:solidFill>
              </a:rPr>
              <a:t>Réplication : </a:t>
            </a:r>
            <a:r>
              <a:rPr lang="en-US" sz="1400" dirty="0">
                <a:solidFill>
                  <a:schemeClr val="tx1"/>
                </a:solidFill>
              </a:rPr>
              <a:t>incrémentale ou par capture des changements.</a:t>
            </a:r>
            <a:endParaRPr lang="en-US" sz="1400" dirty="0"/>
          </a:p>
          <a:p>
            <a:pPr marL="0" indent="0">
              <a:spcAft>
                <a:spcPts val="1000"/>
              </a:spcAft>
              <a:buNone/>
            </a:pPr>
            <a:r>
              <a:rPr lang="en-US" sz="1400" b="1" dirty="0">
                <a:solidFill>
                  <a:schemeClr val="tx2"/>
                </a:solidFill>
              </a:rPr>
              <a:t>Sécuriser : </a:t>
            </a:r>
            <a:r>
              <a:rPr lang="en-US" sz="1400" dirty="0">
                <a:solidFill>
                  <a:schemeClr val="tx1"/>
                </a:solidFill>
              </a:rPr>
              <a:t>authentification et cache pour l’API.</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1"/>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188720"/>
            <a:ext cx="5303520" cy="1783080"/>
          </a:xfrm>
          <a:prstGeom prst="rect">
            <a:avLst/>
          </a:prstGeom>
          <a:noFill/>
          <a:ln/>
        </p:spPr>
        <p:txBody>
          <a:bodyPr wrap="square" lIns="0" tIns="0" rIns="0" bIns="0" rtlCol="0" anchor="t"/>
          <a:lstStyle/>
          <a:p>
            <a:pPr marL="0" indent="0">
              <a:buNone/>
            </a:pPr>
            <a:r>
              <a:rPr lang="en-US" sz="3800" b="1" dirty="0">
                <a:solidFill>
                  <a:schemeClr val="bg1"/>
                </a:solidFill>
              </a:rPr>
              <a:t>Merci</a:t>
            </a:r>
            <a:endParaRPr lang="en-US" sz="3800" dirty="0"/>
          </a:p>
        </p:txBody>
      </p:sp>
      <p:sp>
        <p:nvSpPr>
          <p:cNvPr id="4" name="Text 1"/>
          <p:cNvSpPr>
            <a:spLocks noGrp="1"/>
          </p:cNvSpPr>
          <p:nvPr>
            <p:ph type="body" idx="102" hasCustomPrompt="1"/>
          </p:nvPr>
        </p:nvSpPr>
        <p:spPr>
          <a:xfrm>
            <a:off x="548640" y="3063240"/>
            <a:ext cx="5303520" cy="457200"/>
          </a:xfrm>
          <a:prstGeom prst="rect">
            <a:avLst/>
          </a:prstGeom>
          <a:noFill/>
          <a:ln/>
        </p:spPr>
        <p:txBody>
          <a:bodyPr wrap="square" lIns="0" tIns="0" rIns="0" bIns="0" rtlCol="0" anchor="t"/>
          <a:lstStyle/>
          <a:p>
            <a:pPr marL="0" indent="0">
              <a:buNone/>
            </a:pPr>
            <a:r>
              <a:rPr lang="en-US" sz="1800" dirty="0">
                <a:solidFill>
                  <a:schemeClr val="accent1"/>
                </a:solidFill>
              </a:rPr>
              <a:t>Démonstration et questions</a:t>
            </a:r>
            <a:endParaRPr lang="en-US" sz="1800" dirty="0"/>
          </a:p>
        </p:txBody>
      </p:sp>
      <p:sp>
        <p:nvSpPr>
          <p:cNvPr id="5" name="Text 2"/>
          <p:cNvSpPr txBox="1"/>
          <p:nvPr/>
        </p:nvSpPr>
        <p:spPr>
          <a:xfrm>
            <a:off x="548640" y="3611880"/>
            <a:ext cx="5394960" cy="457200"/>
          </a:xfrm>
          <a:prstGeom prst="rect">
            <a:avLst/>
          </a:prstGeom>
          <a:noFill/>
          <a:ln/>
        </p:spPr>
        <p:txBody>
          <a:bodyPr wrap="square" lIns="0" tIns="0" rIns="0" bIns="0" rtlCol="0" anchor="t"/>
          <a:lstStyle/>
          <a:p>
            <a:pPr marL="0" indent="0">
              <a:buNone/>
            </a:pPr>
            <a:r>
              <a:rPr lang="en-US" sz="1400" dirty="0">
                <a:solidFill>
                  <a:schemeClr val="bg1"/>
                </a:solidFill>
              </a:rPr>
              <a:t>Dépôt Git public · README · Docker Compose · Tests de bout en bout</a:t>
            </a:r>
            <a:endParaRPr lang="en-US" sz="1400" dirty="0"/>
          </a:p>
        </p:txBody>
      </p:sp>
      <p:sp>
        <p:nvSpPr>
          <p:cNvPr id="6" name="Text 3"/>
          <p:cNvSpPr txBox="1"/>
          <p:nvPr/>
        </p:nvSpPr>
        <p:spPr>
          <a:xfrm>
            <a:off x="548640" y="4297680"/>
            <a:ext cx="5394960" cy="274320"/>
          </a:xfrm>
          <a:prstGeom prst="rect">
            <a:avLst/>
          </a:prstGeom>
          <a:noFill/>
          <a:ln/>
        </p:spPr>
        <p:txBody>
          <a:bodyPr wrap="square" lIns="0" tIns="0" rIns="0" bIns="0" rtlCol="0" anchor="t"/>
          <a:lstStyle/>
          <a:p>
            <a:pPr marL="0" indent="0">
              <a:buNone/>
            </a:pPr>
            <a:r>
              <a:rPr lang="en-US" sz="1200" dirty="0">
                <a:solidFill>
                  <a:schemeClr val="accent5"/>
                </a:solidFill>
              </a:rPr>
              <a:t>SIE · Groupe 7</a:t>
            </a:r>
            <a:endParaRPr lang="en-US" sz="1200" dirty="0"/>
          </a:p>
        </p:txBody>
      </p:sp>
      <p:sp>
        <p:nvSpPr>
          <p:cNvPr id="7" name="Pastille FaSyncAlt"/>
          <p:cNvSpPr/>
          <p:nvPr/>
        </p:nvSpPr>
        <p:spPr>
          <a:xfrm>
            <a:off x="6766560" y="1143000"/>
            <a:ext cx="914400" cy="914400"/>
          </a:xfrm>
          <a:prstGeom prst="ellipse">
            <a:avLst/>
          </a:prstGeom>
          <a:solidFill>
            <a:schemeClr val="accent1"/>
          </a:solidFill>
          <a:ln w="12700">
            <a:solidFill>
              <a:schemeClr val="accent1"/>
            </a:solidFill>
            <a:prstDash val="solid"/>
          </a:ln>
        </p:spPr>
      </p:sp>
      <p:pic>
        <p:nvPicPr>
          <p:cNvPr id="8" name="Image 0" descr="Icône FaSyncAlt"/>
          <p:cNvPicPr>
            <a:picLocks noChangeAspect="1"/>
          </p:cNvPicPr>
          <p:nvPr/>
        </p:nvPicPr>
        <p:blipFill>
          <a:blip r:embed="rId3"/>
          <a:stretch>
            <a:fillRect/>
          </a:stretch>
        </p:blipFill>
        <p:spPr>
          <a:xfrm>
            <a:off x="6995160" y="1371600"/>
            <a:ext cx="457200" cy="457200"/>
          </a:xfrm>
          <a:prstGeom prst="rect">
            <a:avLst/>
          </a:prstGeom>
        </p:spPr>
      </p:pic>
      <p:sp>
        <p:nvSpPr>
          <p:cNvPr id="9" name="Pastille FaProjectDiagram"/>
          <p:cNvSpPr/>
          <p:nvPr/>
        </p:nvSpPr>
        <p:spPr>
          <a:xfrm>
            <a:off x="6766560" y="2286000"/>
            <a:ext cx="914400" cy="914400"/>
          </a:xfrm>
          <a:prstGeom prst="ellipse">
            <a:avLst/>
          </a:prstGeom>
          <a:solidFill>
            <a:schemeClr val="accent2"/>
          </a:solidFill>
          <a:ln w="12700">
            <a:solidFill>
              <a:schemeClr val="accent2"/>
            </a:solidFill>
            <a:prstDash val="solid"/>
          </a:ln>
        </p:spPr>
      </p:sp>
      <p:pic>
        <p:nvPicPr>
          <p:cNvPr id="10" name="Image 1" descr="Icône FaProjectDiagram"/>
          <p:cNvPicPr>
            <a:picLocks noChangeAspect="1"/>
          </p:cNvPicPr>
          <p:nvPr/>
        </p:nvPicPr>
        <p:blipFill>
          <a:blip r:embed="rId4"/>
          <a:stretch>
            <a:fillRect/>
          </a:stretch>
        </p:blipFill>
        <p:spPr>
          <a:xfrm>
            <a:off x="6995160" y="2514600"/>
            <a:ext cx="457200" cy="457200"/>
          </a:xfrm>
          <a:prstGeom prst="rect">
            <a:avLst/>
          </a:prstGeom>
        </p:spPr>
      </p:pic>
      <p:sp>
        <p:nvSpPr>
          <p:cNvPr id="11" name="Pastille FaBolt"/>
          <p:cNvSpPr/>
          <p:nvPr/>
        </p:nvSpPr>
        <p:spPr>
          <a:xfrm>
            <a:off x="6766560" y="3429000"/>
            <a:ext cx="914400" cy="914400"/>
          </a:xfrm>
          <a:prstGeom prst="ellipse">
            <a:avLst/>
          </a:prstGeom>
          <a:solidFill>
            <a:schemeClr val="accent1"/>
          </a:solidFill>
          <a:ln w="12700">
            <a:solidFill>
              <a:schemeClr val="accent1"/>
            </a:solidFill>
            <a:prstDash val="solid"/>
          </a:ln>
        </p:spPr>
      </p:sp>
      <p:pic>
        <p:nvPicPr>
          <p:cNvPr id="12" name="Image 2" descr="Icône FaBolt"/>
          <p:cNvPicPr>
            <a:picLocks noChangeAspect="1"/>
          </p:cNvPicPr>
          <p:nvPr/>
        </p:nvPicPr>
        <p:blipFill>
          <a:blip r:embed="rId5"/>
          <a:stretch>
            <a:fillRect/>
          </a:stretch>
        </p:blipFill>
        <p:spPr>
          <a:xfrm>
            <a:off x="6995160" y="3657600"/>
            <a:ext cx="457200" cy="457200"/>
          </a:xfrm>
          <a:prstGeom prst="rect">
            <a:avLst/>
          </a:prstGeom>
        </p:spPr>
      </p:pic>
    </p:spTree>
  </p:cSld>
  <p:clrMapOvr>
    <a:masterClrMapping/>
  </p:clrMapOvr>
</p:sld>
</file>

<file path=ppt/theme/theme1.xml><?xml version="1.0" encoding="utf-8"?>
<a:theme xmlns:a="http://schemas.openxmlformats.org/drawingml/2006/main" name="Sante Data">
  <a:themeElements>
    <a:clrScheme name="Sante Data">
      <a:dk1>
        <a:srgbClr val="334155"/>
      </a:dk1>
      <a:lt1>
        <a:srgbClr val="F8F9FA"/>
      </a:lt1>
      <a:dk2>
        <a:srgbClr val="0F172A"/>
      </a:dk2>
      <a:lt2>
        <a:srgbClr val="FFFFFF"/>
      </a:lt2>
      <a:accent1>
        <a:srgbClr val="0EA5E9"/>
      </a:accent1>
      <a:accent2>
        <a:srgbClr val="10B981"/>
      </a:accent2>
      <a:accent3>
        <a:srgbClr val="F59E0B"/>
      </a:accent3>
      <a:accent4>
        <a:srgbClr val="94A3B8"/>
      </a:accent4>
      <a:accent5>
        <a:srgbClr val="E2E8F0"/>
      </a:accent5>
      <a:accent6>
        <a:srgbClr val="0369A1"/>
      </a:accent6>
      <a:hlink>
        <a:srgbClr val="0EA5E9"/>
      </a:hlink>
      <a:folHlink>
        <a:srgbClr val="94A3B8"/>
      </a:folHlink>
    </a:clrScheme>
    <a:fontScheme name="Sante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6c818a6-e1a0-4a6e-a969-20d857c5dc62}" enabled="1" method="Standard" siteId="{90c7a20a-f34b-40bf-bc48-b9253b6f5d20}" contentBits="2" removed="0"/>
</clbl:labelList>
</file>

<file path=docProps/app.xml><?xml version="1.0" encoding="utf-8"?>
<Properties xmlns="http://schemas.openxmlformats.org/officeDocument/2006/extended-properties" xmlns:vt="http://schemas.openxmlformats.org/officeDocument/2006/docPropsVTypes">
  <TotalTime>819</TotalTime>
  <Words>2192</Words>
  <Application>Microsoft Office PowerPoint</Application>
  <PresentationFormat>Affichage à l'écran (16:9)</PresentationFormat>
  <Paragraphs>230</Paragraphs>
  <Slides>16</Slides>
  <Notes>16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Cambria</vt:lpstr>
      <vt:lpstr>Courier New</vt:lpstr>
      <vt:lpstr>Sante Data</vt:lpstr>
      <vt:lpstr>Pipeline de données sanitaires fictives</vt:lpstr>
      <vt:lpstr>Un pipeline, trois missions</vt:lpstr>
      <vt:lpstr>Du fichier CSV à l’indicateur</vt:lpstr>
      <vt:lpstr>Cinq membres, cinq rôles</vt:lpstr>
      <vt:lpstr>Des données fictives structurées</vt:lpstr>
      <vt:lpstr>Airbyte copie les trois tables</vt:lpstr>
      <vt:lpstr>Dagster contrôle la qualité</vt:lpstr>
      <vt:lpstr>Données valides, rejets expliqués</vt:lpstr>
      <vt:lpstr>FastAPI expose les indicateurs</vt:lpstr>
      <vt:lpstr>Une installation reproductible</vt:lpstr>
      <vt:lpstr>Deux scénarios de bout en bout</vt:lpstr>
      <vt:lpstr>Test 1 : le scénario nominal</vt:lpstr>
      <vt:lpstr>Test 2 : des données dégradées</vt:lpstr>
      <vt:lpstr>Livrables du dépôt public</vt:lpstr>
      <vt:lpstr>Bilan et perspectives</vt:lpstr>
      <vt:lpstr>Merci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de données sanitaires fictives — TP n°19, Groupe 7</dc:title>
  <dc:subject>PptxGenJS Presentation</dc:subject>
  <dc:creator>Groupe 7 SIE</dc:creator>
  <cp:lastModifiedBy>ADJARATOU SAVADOGO</cp:lastModifiedBy>
  <cp:revision>6</cp:revision>
  <dcterms:created xsi:type="dcterms:W3CDTF">2026-10-26T10:58:11Z</dcterms:created>
  <dcterms:modified xsi:type="dcterms:W3CDTF">2026-10-29T07:28:58Z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Sante Data:3</vt:lpwstr>
  </property>
  <property fmtid="{D5CDD505-2E9C-101B-9397-08002B2CF9AE}" pid="3" name="ClassificationContentMarkingFooterText">
    <vt:lpwstr>Orange Restricted</vt:lpwstr>
  </property>
</Properties>
</file>